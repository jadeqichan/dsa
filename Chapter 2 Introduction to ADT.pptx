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sldSz cx="9144000" cy="6858000" type="screen4x3"/>
  <p:notesSz cx="6858000" cy="9144000"/>
  <p:embeddedFontLst>
    <p:embeddedFont>
      <p:font typeface="Tahoma" panose="020B0604030504040204" pitchFamily="34" charset="0"/>
      <p:regular r:id="rId85"/>
      <p:bold r:id="rId8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0" roundtripDataSignature="AMtx7mj90qv5BizWfMVBNduHBYJj4IAy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58" autoAdjust="0"/>
    <p:restoredTop sz="94660"/>
  </p:normalViewPr>
  <p:slideViewPr>
    <p:cSldViewPr snapToGrid="0">
      <p:cViewPr>
        <p:scale>
          <a:sx n="66" d="100"/>
          <a:sy n="66" d="100"/>
        </p:scale>
        <p:origin x="-51" y="36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customschemas.google.com/relationships/presentationmetadata" Target="metadata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1.fntdata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2.fntdata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Google Shape;6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ftr" idx="11"/>
          </p:nvPr>
        </p:nvSpPr>
        <p:spPr>
          <a:xfrm>
            <a:off x="0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n"/>
          <p:cNvSpPr txBox="1">
            <a:spLocks noGrp="1"/>
          </p:cNvSpPr>
          <p:nvPr>
            <p:ph type="sldNum" idx="4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5cde911a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g3c5cde911a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5cde911a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g3c5cde911a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5cde911a3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3c5cde911a3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c5cde911a3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3c5cde911a3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c5cde911a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c5cde911a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c5cde911a3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g3c5cde911a3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5cde911a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g3c5cde911a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c5cde911a3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c5cde911a3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c5cde911a3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3c5cde911a3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5cde911a3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g3c5cde911a3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c5cde911a3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3c5cde911a3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5cde911a3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3c5cde911a3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5cde911a3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g3c5cde911a3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c5cde911a3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3c5cde911a3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5cde911a3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g3c5cde911a3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c5cde911a3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g3c5cde911a3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5cde911a3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g3c5cde911a3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c5cde911a3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g3c5cde911a3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c5cde911a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g3c5cde911a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c5cde911a3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3c5cde911a3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c5cde911a3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g3c5cde911a3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c5cde911a3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g3c5cde911a3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c5cde911a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g3c5cde911a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c5cde911a3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g3c5cde911a3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c5cde911a3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g3c5cde911a3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c5cde911a3_0_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g3c5cde911a3_0_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c5cde911a3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g3c5cde911a3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c5cde911a3_0_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g3c5cde911a3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c5cde911a3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g3c5cde911a3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c5cde911a3_0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g3c5cde911a3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c5cde911a3_0_259:notes"/>
          <p:cNvSpPr txBox="1">
            <a:spLocks noGrp="1"/>
          </p:cNvSpPr>
          <p:nvPr>
            <p:ph type="sldNum" idx="12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2" name="Google Shape;572;g3c5cde911a3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73" name="Google Shape;573;g3c5cde911a3_0_25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c5cde911a3_0_2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g3c5cde911a3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c5cde911a3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g3c5cde911a3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c5cde911a3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g3c5cde911a3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c5cde911a3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g3c5cde911a3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c5cde911a3_0_321:notes"/>
          <p:cNvSpPr txBox="1"/>
          <p:nvPr/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3" name="Google Shape;613;g3c5cde911a3_0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4" name="Google Shape;614;g3c5cde911a3_0_32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c5cde911a3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g3c5cde911a3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c5cde911a3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g3c5cde911a3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c5cde911a3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g3c5cde911a3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c5cde911a3_0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g3c5cde911a3_0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c5cde911a3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9" name="Google Shape;659;g3c5cde911a3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c5cde911a3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7" name="Google Shape;667;g3c5cde911a3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c5cde911a3_0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g3c5cde911a3_0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c5cde911a3_0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g3c5cde911a3_0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c5cde911a3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g3c5cde911a3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c5cde911a3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g3c5cde911a3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c5cde911a3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g3c5cde911a3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c5cde911a3_0_4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g3c5cde911a3_0_4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c5cde911a3_0_4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g3c5cde911a3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c5cde911a3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g3c5cde911a3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c5cde911a3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g3c5cde911a3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c5cde911a3_0_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g3c5cde911a3_0_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3c5cde911a3_0_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g3c5cde911a3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c5cde911a3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g3c5cde911a3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c5cde911a3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g3c5cde911a3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c5cde911a3_0_4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c5cde911a3_0_4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layout with centered title and subtitle placeholders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19" name="Google Shape;19;p28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5" name="Google Shape;25;p29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on left, text on right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5cde911a3_0_296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g3c5cde911a3_0_2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g3c5cde911a3_0_2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c5cde911a3_0_55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g3c5cde911a3_0_55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35" name="Google Shape;35;g3c5cde911a3_0_555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g3c5cde911a3_0_55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g3c5cde911a3_0_55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c5cde911a3_0_5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g3c5cde911a3_0_5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1" name="Google Shape;41;g3c5cde911a3_0_56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42" name="Google Shape;42;g3c5cde911a3_0_561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g3c5cde911a3_0_5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g3c5cde911a3_0_5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dt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2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about:blank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" name="Google Shape;50;p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51" name="Google Shape;51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Introduction to Abstract Data Types</a:t>
            </a:r>
            <a:endParaRPr/>
          </a:p>
        </p:txBody>
      </p:sp>
      <p:sp>
        <p:nvSpPr>
          <p:cNvPr id="52" name="Google Shape;52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/>
              <a:t>Topic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" name="Google Shape;58;p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59" name="Google Shape;59;p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/>
              <a:t>Chapter Contents</a:t>
            </a:r>
            <a:endParaRPr/>
          </a:p>
        </p:txBody>
      </p:sp>
      <p:sp>
        <p:nvSpPr>
          <p:cNvPr id="60" name="Google Shape;60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2.1 A first look at ADTs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2.2 C++'s Simple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2.3 Programmer-Defined Data Types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2.4 Pointers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" name="Google Shape;66;p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67" name="Google Shape;67;p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8" name="Google Shape;68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Distinguish between ADTs and implementations of ADTs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C++'s simple data types &amp; ADTs they model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examples of how implementations of ADTs are sometimes insufficient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simple mechanisms to define new data types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a first look at pointers and pointer operations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" name="Google Shape;74;p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75" name="Google Shape;75;p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latin typeface="Arial"/>
                <a:ea typeface="Arial"/>
                <a:cs typeface="Arial"/>
                <a:sym typeface="Arial"/>
              </a:rPr>
              <a:t>First Look at ADTs &amp; Implementations</a:t>
            </a:r>
            <a:endParaRPr/>
          </a:p>
        </p:txBody>
      </p:sp>
      <p:sp>
        <p:nvSpPr>
          <p:cNvPr id="76" name="Google Shape;76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 programming task we must identify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collection of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Basic operations to be performed on them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Taken together (data items &amp; operations)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are called an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bstract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ata 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ype (ADT)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structures for the data items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the operations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Integers</a:t>
            </a:r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unsigned short, unsigned, unsigned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Sometimes called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whole numbers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2, 4, or 8 bytes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Signed integers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lang="en-US" sz="24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short, int, long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two's complement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0" name="Google Shape;90;p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91" name="Google Shape;91;p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92" name="Google Shape;92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 nonnegative n: 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ordinary base-two representation with leading (sign) bit 0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n &lt; 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 w-bit base-2 representation of  |</a:t>
            </a:r>
            <a:r>
              <a:rPr lang="en-US"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|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each bit.	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   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8" name="Google Shape;98;p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99" name="Google Shape;99;p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00" name="Google Shape;100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 –88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88 as a 16-bit base-two number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0000000001011000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this bit string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1111111110100111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1111111110101000	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strike="noStrike" cap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807075" y="3732212"/>
            <a:ext cx="457200" cy="11811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811962" y="3875087"/>
            <a:ext cx="1295400" cy="762000"/>
          </a:xfrm>
          <a:prstGeom prst="wedgeEllipseCallout">
            <a:avLst>
              <a:gd name="adj1" fmla="val -4076"/>
              <a:gd name="adj2" fmla="val 1548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3300"/>
              </a:buClr>
              <a:buSzPts val="1800"/>
              <a:buFont typeface="Tahoma"/>
              <a:buNone/>
            </a:pPr>
            <a:r>
              <a:rPr lang="en-US" sz="1800" b="1" i="0" u="none">
                <a:solidFill>
                  <a:srgbClr val="993300"/>
                </a:solidFill>
                <a:latin typeface="Tahoma"/>
                <a:ea typeface="Tahoma"/>
                <a:cs typeface="Tahoma"/>
                <a:sym typeface="Tahoma"/>
              </a:rPr>
              <a:t>WHY?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B4F2A9-B1A4-3840-BFAF-1519EFEC6CA5}"/>
              </a:ext>
            </a:extLst>
          </p:cNvPr>
          <p:cNvSpPr txBox="1"/>
          <p:nvPr/>
        </p:nvSpPr>
        <p:spPr>
          <a:xfrm>
            <a:off x="2610928" y="5250900"/>
            <a:ext cx="24153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Two complements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FA7B76-5286-F093-09F4-09465E1DEAE7}"/>
              </a:ext>
            </a:extLst>
          </p:cNvPr>
          <p:cNvSpPr txBox="1"/>
          <p:nvPr/>
        </p:nvSpPr>
        <p:spPr>
          <a:xfrm>
            <a:off x="-167287" y="3689906"/>
            <a:ext cx="1715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One complement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109" name="Google Shape;109;p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10" name="Google Shape;110;p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 well  for arithmetic computations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2114550" y="2800350"/>
            <a:ext cx="5772150" cy="1798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 + –6: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 </a:t>
            </a:r>
            <a:r>
              <a:rPr lang="en-US" sz="14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0000000000000101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lang="en-US" sz="28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-US" sz="3200" b="1" i="0" u="sng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1111111111111010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lang="en-US" sz="2000" b="1" i="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3213100" y="4133850"/>
            <a:ext cx="4114800" cy="57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FF"/>
              </a:buClr>
              <a:buSzPts val="3200"/>
              <a:buFont typeface="Courier New"/>
              <a:buNone/>
            </a:pP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1111111111111111</a:t>
            </a:r>
            <a:endParaRPr/>
          </a:p>
        </p:txBody>
      </p:sp>
      <p:sp>
        <p:nvSpPr>
          <p:cNvPr id="113" name="Google Shape;113;p8"/>
          <p:cNvSpPr/>
          <p:nvPr/>
        </p:nvSpPr>
        <p:spPr>
          <a:xfrm>
            <a:off x="285750" y="4854575"/>
            <a:ext cx="2495550" cy="1009650"/>
          </a:xfrm>
          <a:prstGeom prst="wedgeRoundRectCallout">
            <a:avLst>
              <a:gd name="adj1" fmla="val 25282"/>
              <a:gd name="adj2" fmla="val -10053"/>
              <a:gd name="adj3" fmla="val 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gets done to the bits to give this answer?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19" name="Google Shape;119;p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120" name="Google Shape;120;p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Integer Representation</a:t>
            </a:r>
            <a:endParaRPr/>
          </a:p>
        </p:txBody>
      </p:sp>
      <p:sp>
        <p:nvSpPr>
          <p:cNvPr id="121" name="Google Shape;12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Limited Capacity — a finite number of bits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operation can produce a value that requires more bits than maximum number allowed.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called   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overflow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	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these is  a </a:t>
            </a:r>
            <a:r>
              <a:rPr lang="en-US" sz="2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perfect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representation of (mathematical) integers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only store a finite (sub)range of them.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2.1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Fig. 2.1,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2.2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28" name="Google Shape;128;p1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29" name="Google Shape;129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 float and double in C++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single precision (IEEE Floating-Point)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Store: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 of mantissa in leftmost bit (0 = +, 1 = – 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 exponent in next 8 bits 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(exponent + 127)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bits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mantissa in rightmost 23 bits.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 not store b</a:t>
            </a:r>
            <a:r>
              <a:rPr lang="en-US" sz="2800" b="0" i="0" u="none" strike="noStrike" cap="none" baseline="-25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(we know it's 1)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37" name="Google Shape;137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22.625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=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10110.101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Floating point form: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1.0110101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* 2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38" name="Google Shape;138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8675" y="3638550"/>
            <a:ext cx="7310437" cy="2036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44" name="Google Shape;144;p1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145" name="Google Shape;145;p1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46" name="Google Shape;146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Exponent overflow and underflow</a:t>
            </a:r>
            <a:endParaRPr/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reals do </a:t>
            </a:r>
            <a:r>
              <a:rPr lang="en-US" sz="28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have terminating binary representations.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0.7 = (0.10110011001100110011001100. . .)</a:t>
            </a:r>
            <a:r>
              <a:rPr lang="en-US" sz="3200" b="1" i="0" u="none" baseline="-2500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 baseline="-25000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7" name="Google Shape;14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3737" y="2274887"/>
            <a:ext cx="7716837" cy="981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rgbClr val="80808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154" name="Google Shape;154;p1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55" name="Google Shape;155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 may be compounded in a sequence of operations.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Real-world example – Gulf War Patriot missile guidance affected by accumulated round off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 careful in comparing reals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 == and !=.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Instead use comparison for </a:t>
            </a:r>
            <a: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closeness</a:t>
            </a:r>
            <a:br>
              <a:rPr lang="en-US" sz="24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if (abs (x – 12.34) &lt; 0.001) …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62" name="Google Shape;162;p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Data</a:t>
            </a:r>
            <a:endParaRPr/>
          </a:p>
        </p:txBody>
      </p:sp>
      <p:sp>
        <p:nvSpPr>
          <p:cNvPr id="163" name="Google Shape;163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byte for ASCII, EBCDIC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 bytes for Unicode (java)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C++ </a:t>
            </a:r>
            <a:r>
              <a:rPr lang="en-US" sz="32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wide character type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 ==, &lt;, &gt;, etc. Using numeric code</a:t>
            </a: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4"/>
          <p:cNvPicPr preferRelativeResize="0"/>
          <p:nvPr/>
        </p:nvPicPr>
        <p:blipFill rotWithShape="1">
          <a:blip r:embed="rId3">
            <a:alphaModFix/>
          </a:blip>
          <a:srcRect l="10116" t="3956" r="5307" b="13096"/>
          <a:stretch/>
        </p:blipFill>
        <p:spPr>
          <a:xfrm>
            <a:off x="6069012" y="1541462"/>
            <a:ext cx="2428875" cy="9652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165" name="Google Shape;165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82900" y="3549650"/>
            <a:ext cx="3762375" cy="9239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1" name="Google Shape;171;p1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72" name="Google Shape;172;p1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Boolean Data</a:t>
            </a:r>
            <a:endParaRPr/>
          </a:p>
        </p:txBody>
      </p:sp>
      <p:sp>
        <p:nvSpPr>
          <p:cNvPr id="173" name="Google Shape;173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Values { false, true }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Could be stored in bits, usually use a byte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&amp;&amp;, ||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C++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bool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(boolVal) evaluates to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 if false</a:t>
            </a:r>
            <a:endParaRPr/>
          </a:p>
          <a:p>
            <a:pPr marL="1143000" marR="0" lvl="2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if true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9" name="Google Shape;179;p1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80" name="Google Shape;180;p1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1" name="Google Shape;18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Typedefs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usable to create a new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new name to existing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 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real;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either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real</a:t>
            </a:r>
            <a:r>
              <a:rPr lang="en-US" sz="2800" b="1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used.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9" name="Google Shape;189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Enumerations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for creating types whose literals are identifiers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identifier associated with unique integer</a:t>
            </a:r>
            <a:endParaRPr/>
          </a:p>
        </p:txBody>
      </p:sp>
      <p:pic>
        <p:nvPicPr>
          <p:cNvPr id="190" name="Google Shape;19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0" y="4300537"/>
            <a:ext cx="5400675" cy="1098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96" name="Google Shape;196;p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197" name="Google Shape;197;p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98" name="Google Shape;198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possible to specify explicit values to give the enumerators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enum NumberBase { BINARY = 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OCTAL = 8,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DECIMAL = 10,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HEXADECIMAL = 16};</a:t>
            </a:r>
            <a:endParaRPr/>
          </a:p>
        </p:txBody>
      </p:sp>
      <p:pic>
        <p:nvPicPr>
          <p:cNvPr id="199" name="Google Shape;19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92300" y="4541837"/>
            <a:ext cx="5265737" cy="14033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regular variables are declared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allocated for value of specified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 name associated with that memory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initialized with values provided (if any)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0362" y="2222500"/>
            <a:ext cx="3468687" cy="2995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grpSp>
        <p:nvGrpSpPr>
          <p:cNvPr id="209" name="Google Shape;209;p19"/>
          <p:cNvGrpSpPr/>
          <p:nvPr/>
        </p:nvGrpSpPr>
        <p:grpSpPr>
          <a:xfrm>
            <a:off x="4770437" y="2422525"/>
            <a:ext cx="898525" cy="777875"/>
            <a:chOff x="3005" y="1526"/>
            <a:chExt cx="566" cy="490"/>
          </a:xfrm>
        </p:grpSpPr>
        <p:sp>
          <p:nvSpPr>
            <p:cNvPr id="210" name="Google Shape;210;p19"/>
            <p:cNvSpPr/>
            <p:nvPr/>
          </p:nvSpPr>
          <p:spPr>
            <a:xfrm>
              <a:off x="3475" y="1526"/>
              <a:ext cx="96" cy="49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1" name="Google Shape;211;p19"/>
            <p:cNvCxnSpPr/>
            <p:nvPr/>
          </p:nvCxnSpPr>
          <p:spPr>
            <a:xfrm rot="10800000" flipH="1">
              <a:off x="3005" y="1805"/>
              <a:ext cx="441" cy="16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2" name="Google Shape;212;p19"/>
          <p:cNvGrpSpPr/>
          <p:nvPr/>
        </p:nvGrpSpPr>
        <p:grpSpPr>
          <a:xfrm>
            <a:off x="4587875" y="2301875"/>
            <a:ext cx="3916362" cy="1873250"/>
            <a:chOff x="2890" y="1450"/>
            <a:chExt cx="2467" cy="1180"/>
          </a:xfrm>
        </p:grpSpPr>
        <p:sp>
          <p:nvSpPr>
            <p:cNvPr id="213" name="Google Shape;213;p19"/>
            <p:cNvSpPr/>
            <p:nvPr/>
          </p:nvSpPr>
          <p:spPr>
            <a:xfrm>
              <a:off x="4790" y="1450"/>
              <a:ext cx="567" cy="23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19"/>
            <p:cNvCxnSpPr/>
            <p:nvPr/>
          </p:nvCxnSpPr>
          <p:spPr>
            <a:xfrm rot="10800000" flipH="1">
              <a:off x="2890" y="1718"/>
              <a:ext cx="1881" cy="9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215" name="Google Shape;215;p19"/>
          <p:cNvGrpSpPr/>
          <p:nvPr/>
        </p:nvGrpSpPr>
        <p:grpSpPr>
          <a:xfrm>
            <a:off x="4929187" y="2617787"/>
            <a:ext cx="1503362" cy="2325687"/>
            <a:chOff x="3105" y="1649"/>
            <a:chExt cx="947" cy="1465"/>
          </a:xfrm>
        </p:grpSpPr>
        <p:sp>
          <p:nvSpPr>
            <p:cNvPr id="216" name="Google Shape;216;p19"/>
            <p:cNvSpPr txBox="1"/>
            <p:nvPr/>
          </p:nvSpPr>
          <p:spPr>
            <a:xfrm>
              <a:off x="3593" y="1649"/>
              <a:ext cx="459" cy="3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lang="en-US" sz="2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27</a:t>
              </a:r>
              <a:endParaRPr/>
            </a:p>
          </p:txBody>
        </p:sp>
        <p:cxnSp>
          <p:nvCxnSpPr>
            <p:cNvPr id="217" name="Google Shape;217;p19"/>
            <p:cNvCxnSpPr/>
            <p:nvPr/>
          </p:nvCxnSpPr>
          <p:spPr>
            <a:xfrm rot="10800000" flipH="1">
              <a:off x="3105" y="2060"/>
              <a:ext cx="595" cy="105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224" name="Google Shape;224;p2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25" name="Google Shape;22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stored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</a:t>
            </a: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Fig. 2.4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Declares variables that can store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addresses  and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Displays the addresses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31" name="Google Shape;231;p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33" name="Google Shape;233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Dereferencing and indirection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 stores address of a location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contents of that location requires dereferencing operator  *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program 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 2.5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endParaRPr/>
          </a:p>
        </p:txBody>
      </p:sp>
      <p:pic>
        <p:nvPicPr>
          <p:cNvPr id="234" name="Google Shape;23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29237" y="3551237"/>
            <a:ext cx="3452812" cy="15430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40" name="Google Shape;240;p2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241" name="Google Shape;241;p2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42" name="Google Shape;242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 can be assigned the values of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 variables bound to same type</a:t>
            </a:r>
            <a:endParaRPr/>
          </a:p>
        </p:txBody>
      </p:sp>
      <p:pic>
        <p:nvPicPr>
          <p:cNvPr id="243" name="Google Shape;243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5050" y="3549650"/>
            <a:ext cx="3279775" cy="2263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4">
            <a:alphaModFix/>
          </a:blip>
          <a:srcRect b="4975"/>
          <a:stretch/>
        </p:blipFill>
        <p:spPr>
          <a:xfrm>
            <a:off x="5075237" y="3522662"/>
            <a:ext cx="3503612" cy="23780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0" name="Google Shape;250;p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251" name="Google Shape;251;p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52" name="Google Shape;252;p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   </a:t>
            </a:r>
            <a:r>
              <a:rPr lang="en-US" sz="3200" b="1" i="0" u="none" dirty="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-US" sz="3200" b="1" i="0" u="none" dirty="0" err="1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jPtr</a:t>
            </a:r>
            <a:r>
              <a:rPr lang="en-US" sz="3200" b="1" i="0" u="none" dirty="0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= 44;</a:t>
            </a:r>
            <a:endParaRPr dirty="0"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Changes value that </a:t>
            </a:r>
            <a:r>
              <a:rPr lang="en-US" sz="2800" b="0" i="0" u="sng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</a:t>
            </a: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pointers reference</a:t>
            </a:r>
            <a:endParaRPr dirty="0"/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1079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good programming practice, hard to debug</a:t>
            </a:r>
            <a:endParaRPr dirty="0"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</a:t>
            </a:r>
            <a:r>
              <a:rPr lang="en-US" sz="2800" b="0" i="1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aliasing problem</a:t>
            </a:r>
            <a:endParaRPr dirty="0"/>
          </a:p>
        </p:txBody>
      </p:sp>
      <p:pic>
        <p:nvPicPr>
          <p:cNvPr id="253" name="Google Shape;25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6500" y="2724150"/>
            <a:ext cx="3486150" cy="20542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9" name="Google Shape;259;p2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260" name="Google Shape;260;p2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Relational operators used to compare two pointers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bound to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common 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18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and   </a:t>
            </a:r>
            <a:r>
              <a:rPr lang="en-US" sz="3200" b="1" i="0" u="none" strike="noStrike" cap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!=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null address may be compared with any pointer variable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67" name="Google Shape;267;p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268" name="Google Shape;268;p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Memory Allocation</a:t>
            </a:r>
            <a:endParaRPr/>
          </a:p>
        </p:txBody>
      </p:sp>
      <p:sp>
        <p:nvSpPr>
          <p:cNvPr id="269" name="Google Shape;269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 * intPtr;</a:t>
            </a:r>
            <a:b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intPtr = new int;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anonymous variable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be accessed directly</a:t>
            </a:r>
            <a:endParaRPr/>
          </a:p>
        </p:txBody>
      </p:sp>
      <p:pic>
        <p:nvPicPr>
          <p:cNvPr id="270" name="Google Shape;270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24050" y="3757612"/>
            <a:ext cx="4373562" cy="10763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76" name="Google Shape;276;p2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77" name="Google Shape;277;p2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Arguments</a:t>
            </a:r>
            <a:endParaRPr/>
          </a:p>
        </p:txBody>
      </p:sp>
      <p:sp>
        <p:nvSpPr>
          <p:cNvPr id="278" name="Google Shape;278;p2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passed as arguments to functions</a:t>
            </a:r>
            <a:endParaRPr/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logically equivalent to reference parameters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fact, this is how early C++ compilers accomplished reference parameters</a:t>
            </a:r>
            <a:endParaRPr/>
          </a:p>
        </p:txBody>
      </p:sp>
      <p:pic>
        <p:nvPicPr>
          <p:cNvPr id="279" name="Google Shape;279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5925" y="2428875"/>
            <a:ext cx="5429250" cy="16287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5cde911a3_0_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85" name="Google Shape;285;g3c5cde911a3_0_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286" name="Google Shape;286;g3c5cde911a3_0_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 and Abstract Data Types</a:t>
            </a:r>
            <a:endParaRPr/>
          </a:p>
        </p:txBody>
      </p:sp>
      <p:sp>
        <p:nvSpPr>
          <p:cNvPr id="287" name="Google Shape;287;g3c5cde911a3_0_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3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5cde911a3_0_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93" name="Google Shape;293;g3c5cde911a3_0_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294" name="Google Shape;294;g3c5cde911a3_0_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295" name="Google Shape;295;g3c5cde911a3_0_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3.1 Data Structures, Abstract Data Types and Implementations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3.2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3.3 Multidimensional Arrays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3.4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3.5 C-Style Structs (optional)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3.6 Procedural Programming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5cde911a3_0_1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1" name="Google Shape;301;g3c5cde911a3_0_1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302" name="Google Shape;302;g3c5cde911a3_0_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303" name="Google Shape;303;g3c5cde911a3_0_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ADTs, implementations in detail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Introduce arrays as ADTs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arrays implemented as C++ static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Describe multidimensional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Extend pointers to use in dynamic arrays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Show use of C++ structs to model objects with multiple attributes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example of procedural programming paradigm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5cde911a3_0_2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9" name="Google Shape;309;g3c5cde911a3_0_2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310" name="Google Shape;310;g3c5cde911a3_0_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11" name="Google Shape;311;g3c5cde911a3_0_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example of an airplane flight with 10 seats to be assigned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List available seats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Reserve a seat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store, access data?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 individual variables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variables</a:t>
            </a:r>
            <a:endParaRPr/>
          </a:p>
        </p:txBody>
      </p:sp>
      <p:sp>
        <p:nvSpPr>
          <p:cNvPr id="312" name="Google Shape;312;g3c5cde911a3_0_21"/>
          <p:cNvSpPr/>
          <p:nvPr/>
        </p:nvSpPr>
        <p:spPr>
          <a:xfrm>
            <a:off x="4994275" y="4830762"/>
            <a:ext cx="516000" cy="516000"/>
          </a:xfrm>
          <a:prstGeom prst="noSmoking">
            <a:avLst>
              <a:gd name="adj" fmla="val 18750"/>
            </a:avLst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g3c5cde911a3_0_21"/>
          <p:cNvSpPr/>
          <p:nvPr/>
        </p:nvSpPr>
        <p:spPr>
          <a:xfrm>
            <a:off x="4946650" y="5510212"/>
            <a:ext cx="514500" cy="561900"/>
          </a:xfrm>
          <a:prstGeom prst="smileyFace">
            <a:avLst>
              <a:gd name="adj" fmla="val 4653"/>
            </a:avLst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c5cde911a3_0_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flipH="1">
            <a:off x="6451600" y="2427287"/>
            <a:ext cx="1885950" cy="1065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c5cde911a3_0_3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0" name="Google Shape;320;g3c5cde911a3_0_3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321" name="Google Shape;321;g3c5cde911a3_0_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22" name="Google Shape;322;g3c5cde911a3_0_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consists of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(data) structures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basic operations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following figure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large collection of data types and structures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c5cde911a3_0_3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8" name="Google Shape;328;g3c5cde911a3_0_3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pic>
        <p:nvPicPr>
          <p:cNvPr id="329" name="Google Shape;329;g3c5cde911a3_0_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38250" y="1389062"/>
            <a:ext cx="6788150" cy="49847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30" name="Google Shape;330;g3c5cde911a3_0_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rgbClr val="808080">
                <a:alpha val="5019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Types</a:t>
            </a:r>
            <a:endParaRPr/>
          </a:p>
        </p:txBody>
      </p:sp>
      <p:sp>
        <p:nvSpPr>
          <p:cNvPr id="331" name="Google Shape;331;g3c5cde911a3_0_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5cde911a3_0_4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37" name="Google Shape;337;g3c5cde911a3_0_4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338" name="Google Shape;338;g3c5cde911a3_0_4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Arrays</a:t>
            </a:r>
            <a:endParaRPr/>
          </a:p>
        </p:txBody>
      </p:sp>
      <p:sp>
        <p:nvSpPr>
          <p:cNvPr id="339" name="Google Shape;339;g3c5cde911a3_0_4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Collection of data elements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of same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accessed by specifying position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determines how memory allocated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Allocation takes place at run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c5cde911a3_0_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45" name="Google Shape;345;g3c5cde911a3_0_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346" name="Google Shape;346;g3c5cde911a3_0_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Single Dimension Arrays</a:t>
            </a:r>
            <a:endParaRPr/>
          </a:p>
        </p:txBody>
      </p:sp>
      <p:sp>
        <p:nvSpPr>
          <p:cNvPr id="347" name="Google Shape;347;g3c5cde911a3_0_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Syntax:</a:t>
            </a:r>
            <a:b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arrayName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[CAPACITY];</a:t>
            </a:r>
            <a:b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arrayName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[CAPACITY] =</a:t>
            </a:r>
            <a:b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{ 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initializer_list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};</a:t>
            </a:r>
            <a:endParaRPr dirty="0"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b [10];</a:t>
            </a:r>
            <a:endParaRPr dirty="0"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accessed by </a:t>
            </a:r>
            <a:endParaRPr dirty="0"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and [ ] operation        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b[5]</a:t>
            </a:r>
            <a:endParaRPr dirty="0"/>
          </a:p>
        </p:txBody>
      </p:sp>
      <p:pic>
        <p:nvPicPr>
          <p:cNvPr id="348" name="Google Shape;348;g3c5cde911a3_0_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16981" y="5448375"/>
            <a:ext cx="4567237" cy="971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349" name="Google Shape;349;g3c5cde911a3_0_52"/>
          <p:cNvCxnSpPr/>
          <p:nvPr/>
        </p:nvCxnSpPr>
        <p:spPr>
          <a:xfrm flipH="1">
            <a:off x="5191075" y="4843462"/>
            <a:ext cx="527100" cy="528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6878419-8847-0E25-95FE-62483F27394C}"/>
              </a:ext>
            </a:extLst>
          </p:cNvPr>
          <p:cNvSpPr txBox="1"/>
          <p:nvPr/>
        </p:nvSpPr>
        <p:spPr>
          <a:xfrm>
            <a:off x="5334000" y="3635829"/>
            <a:ext cx="27359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Once u assign value to all 10, then u can assign number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c5cde911a3_0_6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55" name="Google Shape;355;g3c5cde911a3_0_6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356" name="Google Shape;356;g3c5cde911a3_0_6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Arrays</a:t>
            </a:r>
            <a:endParaRPr/>
          </a:p>
        </p:txBody>
      </p:sp>
      <p:sp>
        <p:nvSpPr>
          <p:cNvPr id="357" name="Google Shape;357;g3c5cde911a3_0_6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of an array may be of any type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Including characters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name [NAME_CAPACITY] = </a:t>
            </a:r>
            <a:b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	"John Doe"; </a:t>
            </a:r>
            <a:endParaRPr/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1905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 strike="noStrike" cap="non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array initialized shorter than specs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extra locations filled with null character</a:t>
            </a:r>
            <a:endParaRPr/>
          </a:p>
          <a:p>
            <a:pPr marL="342900" marR="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8" name="Google Shape;358;g3c5cde911a3_0_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62087" y="3908425"/>
            <a:ext cx="5816600" cy="10747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359" name="Google Shape;359;g3c5cde911a3_0_61"/>
          <p:cNvGrpSpPr/>
          <p:nvPr/>
        </p:nvGrpSpPr>
        <p:grpSpPr>
          <a:xfrm>
            <a:off x="5773737" y="4076700"/>
            <a:ext cx="2879725" cy="1990725"/>
            <a:chOff x="3622" y="2701"/>
            <a:chExt cx="1814" cy="1254"/>
          </a:xfrm>
        </p:grpSpPr>
        <p:sp>
          <p:nvSpPr>
            <p:cNvPr id="360" name="Google Shape;360;g3c5cde911a3_0_61"/>
            <p:cNvSpPr/>
            <p:nvPr/>
          </p:nvSpPr>
          <p:spPr>
            <a:xfrm>
              <a:off x="4403" y="2905"/>
              <a:ext cx="1033" cy="1050"/>
            </a:xfrm>
            <a:custGeom>
              <a:avLst/>
              <a:gdLst/>
              <a:ahLst/>
              <a:cxnLst/>
              <a:rect l="l" t="t" r="r" b="b"/>
              <a:pathLst>
                <a:path w="1033" h="1050" extrusionOk="0">
                  <a:moveTo>
                    <a:pt x="359" y="1050"/>
                  </a:moveTo>
                  <a:cubicBezTo>
                    <a:pt x="649" y="836"/>
                    <a:pt x="939" y="623"/>
                    <a:pt x="986" y="461"/>
                  </a:cubicBezTo>
                  <a:cubicBezTo>
                    <a:pt x="1033" y="299"/>
                    <a:pt x="804" y="154"/>
                    <a:pt x="640" y="77"/>
                  </a:cubicBezTo>
                  <a:cubicBezTo>
                    <a:pt x="476" y="0"/>
                    <a:pt x="238" y="0"/>
                    <a:pt x="0" y="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524288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g3c5cde911a3_0_61"/>
            <p:cNvSpPr/>
            <p:nvPr/>
          </p:nvSpPr>
          <p:spPr>
            <a:xfrm>
              <a:off x="3622" y="2701"/>
              <a:ext cx="9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c5cde911a3_0_7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67" name="Google Shape;367;g3c5cde911a3_0_7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368" name="Google Shape;368;g3c5cde911a3_0_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Subscript Operation</a:t>
            </a:r>
            <a:endParaRPr/>
          </a:p>
        </p:txBody>
      </p:sp>
      <p:sp>
        <p:nvSpPr>
          <p:cNvPr id="369" name="Google Shape;369;g3c5cde911a3_0_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have said elements accessed by name and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numList[5]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the </a:t>
            </a:r>
            <a:r>
              <a:rPr lang="en-US" sz="2800" b="0" i="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be an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subscript operator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Performs address translation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the array is a pointer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constant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base address</a:t>
            </a:r>
            <a:endParaRPr/>
          </a:p>
        </p:txBody>
      </p:sp>
      <p:pic>
        <p:nvPicPr>
          <p:cNvPr id="370" name="Google Shape;370;g3c5cde911a3_0_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34025" y="1757362"/>
            <a:ext cx="3033712" cy="463867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371" name="Google Shape;371;g3c5cde911a3_0_72"/>
          <p:cNvSpPr/>
          <p:nvPr/>
        </p:nvSpPr>
        <p:spPr>
          <a:xfrm>
            <a:off x="3810000" y="2638425"/>
            <a:ext cx="1924050" cy="3076575"/>
          </a:xfrm>
          <a:custGeom>
            <a:avLst/>
            <a:gdLst/>
            <a:ahLst/>
            <a:cxnLst/>
            <a:rect l="l" t="t" r="r" b="b"/>
            <a:pathLst>
              <a:path w="1212" h="1938" extrusionOk="0">
                <a:moveTo>
                  <a:pt x="0" y="1938"/>
                </a:moveTo>
                <a:cubicBezTo>
                  <a:pt x="160" y="1883"/>
                  <a:pt x="320" y="1828"/>
                  <a:pt x="408" y="1734"/>
                </a:cubicBezTo>
                <a:cubicBezTo>
                  <a:pt x="496" y="1640"/>
                  <a:pt x="510" y="1498"/>
                  <a:pt x="528" y="1374"/>
                </a:cubicBezTo>
                <a:cubicBezTo>
                  <a:pt x="546" y="1250"/>
                  <a:pt x="526" y="1130"/>
                  <a:pt x="516" y="990"/>
                </a:cubicBezTo>
                <a:cubicBezTo>
                  <a:pt x="506" y="850"/>
                  <a:pt x="456" y="668"/>
                  <a:pt x="468" y="534"/>
                </a:cubicBezTo>
                <a:cubicBezTo>
                  <a:pt x="480" y="400"/>
                  <a:pt x="538" y="270"/>
                  <a:pt x="588" y="186"/>
                </a:cubicBezTo>
                <a:cubicBezTo>
                  <a:pt x="638" y="102"/>
                  <a:pt x="696" y="60"/>
                  <a:pt x="768" y="30"/>
                </a:cubicBezTo>
                <a:cubicBezTo>
                  <a:pt x="840" y="0"/>
                  <a:pt x="946" y="4"/>
                  <a:pt x="1020" y="6"/>
                </a:cubicBezTo>
                <a:cubicBezTo>
                  <a:pt x="1094" y="8"/>
                  <a:pt x="1153" y="25"/>
                  <a:pt x="1212" y="4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g3c5cde911a3_0_72"/>
          <p:cNvCxnSpPr/>
          <p:nvPr/>
        </p:nvCxnSpPr>
        <p:spPr>
          <a:xfrm rot="10800000" flipH="1">
            <a:off x="4057650" y="3086100"/>
            <a:ext cx="379110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c5cde911a3_0_8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78" name="Google Shape;378;g3c5cde911a3_0_8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379" name="Google Shape;379;g3c5cde911a3_0_8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Using Arrays</a:t>
            </a:r>
            <a:endParaRPr/>
          </a:p>
        </p:txBody>
      </p:sp>
      <p:sp>
        <p:nvSpPr>
          <p:cNvPr id="380" name="Google Shape;380;g3c5cde911a3_0_8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output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Fig. 3.3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input from keyboard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3.4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arrays as parameters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 number of elements of array being used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c5cde911a3_0_8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86" name="Google Shape;386;g3c5cde911a3_0_8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387" name="Google Shape;387;g3c5cde911a3_0_8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Out of Range Errors</a:t>
            </a:r>
            <a:endParaRPr/>
          </a:p>
        </p:txBody>
      </p:sp>
      <p:sp>
        <p:nvSpPr>
          <p:cNvPr id="388" name="Google Shape;388;g3c5cde911a3_0_8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C++ compilers do not by default check indices for out of range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out of range array access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exceed allowed memory area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give puzzling results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example, Fig. 3.5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c5cde911a3_0_96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94" name="Google Shape;394;g3c5cde911a3_0_96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395" name="Google Shape;395;g3c5cde911a3_0_9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C-Style Arrays</a:t>
            </a:r>
            <a:endParaRPr/>
          </a:p>
        </p:txBody>
      </p:sp>
      <p:sp>
        <p:nvSpPr>
          <p:cNvPr id="396" name="Google Shape;396;g3c5cde911a3_0_9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Capacity cannot change.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is not an object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(in the OOP sense)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Virtually no predefined operations </a:t>
            </a:r>
            <a:b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for non-</a:t>
            </a:r>
            <a:r>
              <a:rPr lang="en-US" sz="36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 </a:t>
            </a: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arrays.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lang="en-US" sz="36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Deeper Problem: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C-style arrays aren't self-contained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lang="en-US"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Data, functions, and size not encapsulated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c5cde911a3_0_10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02" name="Google Shape;402;g3c5cde911a3_0_10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403" name="Google Shape;403;g3c5cde911a3_0_10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 dirty="0"/>
          </a:p>
        </p:txBody>
      </p:sp>
      <p:sp>
        <p:nvSpPr>
          <p:cNvPr id="404" name="Google Shape;404;g3c5cde911a3_0_10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table of test scores for several different students</a:t>
            </a:r>
            <a:endParaRPr dirty="0"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Two-dimensional array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</a:t>
            </a:r>
            <a:br>
              <a:rPr lang="en-US" sz="2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arrayName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[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numRows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][</a:t>
            </a:r>
            <a:r>
              <a:rPr lang="en-US" sz="2400" b="1" i="0" u="none" strike="noStrike" cap="none" dirty="0" err="1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numCols</a:t>
            </a:r>
            <a:r>
              <a:rPr lang="en-US" sz="2400" b="1" i="0" u="none" strike="noStrike" cap="none" dirty="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dirty="0"/>
          </a:p>
        </p:txBody>
      </p:sp>
      <p:pic>
        <p:nvPicPr>
          <p:cNvPr id="405" name="Google Shape;405;g3c5cde911a3_0_10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1325" y="2773362"/>
            <a:ext cx="5694362" cy="20129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c5cde911a3_0_111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11" name="Google Shape;411;g3c5cde911a3_0_111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pic>
        <p:nvPicPr>
          <p:cNvPr id="412" name="Google Shape;412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16075" y="3714750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3" name="Google Shape;413;g3c5cde911a3_0_1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14" name="Google Shape;414;g3c5cde911a3_0_1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multiple pages of the student grade book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const int NUM_ROWS = 10, NUM_COLS = 5,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NUM_RANKS = 10;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ThreeDimArray[NUM_ROWS][NUM_COLS][NUM_RANKS];</a:t>
            </a:r>
            <a:endParaRPr/>
          </a:p>
        </p:txBody>
      </p:sp>
      <p:pic>
        <p:nvPicPr>
          <p:cNvPr id="415" name="Google Shape;415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000" y="4068762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pic>
        <p:nvPicPr>
          <p:cNvPr id="416" name="Google Shape;416;g3c5cde911a3_0_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562" y="4200525"/>
            <a:ext cx="5694362" cy="2012950"/>
          </a:xfrm>
          <a:prstGeom prst="rect">
            <a:avLst/>
          </a:prstGeom>
          <a:noFill/>
          <a:ln w="9525" cap="flat" cmpd="sng">
            <a:solidFill>
              <a:srgbClr val="DDDDDD"/>
            </a:solidFill>
            <a:prstDash val="solid"/>
            <a:miter lim="800000"/>
            <a:headEnd type="none" w="sm" len="sm"/>
            <a:tailEnd type="none" w="sm" len="sm"/>
          </a:ln>
        </p:spPr>
      </p:pic>
      <p:sp>
        <p:nvSpPr>
          <p:cNvPr id="417" name="Google Shape;417;g3c5cde911a3_0_111"/>
          <p:cNvSpPr txBox="1"/>
          <p:nvPr/>
        </p:nvSpPr>
        <p:spPr>
          <a:xfrm rot="-1619868">
            <a:off x="6531949" y="5459194"/>
            <a:ext cx="1030275" cy="52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n-US" sz="28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</a:t>
            </a:r>
            <a:endParaRPr/>
          </a:p>
        </p:txBody>
      </p:sp>
      <p:sp>
        <p:nvSpPr>
          <p:cNvPr id="418" name="Google Shape;418;g3c5cde911a3_0_111"/>
          <p:cNvSpPr/>
          <p:nvPr/>
        </p:nvSpPr>
        <p:spPr>
          <a:xfrm>
            <a:off x="7219950" y="3627437"/>
            <a:ext cx="1924050" cy="2293938"/>
          </a:xfrm>
          <a:custGeom>
            <a:avLst/>
            <a:gdLst/>
            <a:ahLst/>
            <a:cxnLst/>
            <a:rect l="l" t="t" r="r" b="b"/>
            <a:pathLst>
              <a:path w="1212" h="1445" extrusionOk="0">
                <a:moveTo>
                  <a:pt x="650" y="0"/>
                </a:moveTo>
                <a:cubicBezTo>
                  <a:pt x="839" y="209"/>
                  <a:pt x="1028" y="419"/>
                  <a:pt x="1091" y="638"/>
                </a:cubicBezTo>
                <a:cubicBezTo>
                  <a:pt x="1154" y="857"/>
                  <a:pt x="1212" y="1179"/>
                  <a:pt x="1030" y="1312"/>
                </a:cubicBezTo>
                <a:cubicBezTo>
                  <a:pt x="848" y="1445"/>
                  <a:pt x="424" y="1439"/>
                  <a:pt x="0" y="1434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c5cde911a3_0_12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24" name="Google Shape;424;g3c5cde911a3_0_12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425" name="Google Shape;425;g3c5cde911a3_0_12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26" name="Google Shape;426;g3c5cde911a3_0_12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arrays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whose elements are other arrays</a:t>
            </a:r>
            <a:endParaRPr/>
          </a:p>
        </p:txBody>
      </p:sp>
      <p:pic>
        <p:nvPicPr>
          <p:cNvPr id="427" name="Google Shape;427;g3c5cde911a3_0_1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0150" y="3498850"/>
            <a:ext cx="4713287" cy="23495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428" name="Google Shape;428;g3c5cde911a3_0_123"/>
          <p:cNvCxnSpPr/>
          <p:nvPr/>
        </p:nvCxnSpPr>
        <p:spPr>
          <a:xfrm>
            <a:off x="2295525" y="2684462"/>
            <a:ext cx="855600" cy="855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  <p:sp>
        <p:nvSpPr>
          <p:cNvPr id="429" name="Google Shape;429;g3c5cde911a3_0_123"/>
          <p:cNvSpPr/>
          <p:nvPr/>
        </p:nvSpPr>
        <p:spPr>
          <a:xfrm>
            <a:off x="6596062" y="3832225"/>
            <a:ext cx="271500" cy="1713000"/>
          </a:xfrm>
          <a:prstGeom prst="rightBrace">
            <a:avLst>
              <a:gd name="adj1" fmla="val 8333"/>
              <a:gd name="adj2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c5cde911a3_0_123"/>
          <p:cNvSpPr/>
          <p:nvPr/>
        </p:nvSpPr>
        <p:spPr>
          <a:xfrm>
            <a:off x="7062787" y="2716212"/>
            <a:ext cx="1235074" cy="1914526"/>
          </a:xfrm>
          <a:custGeom>
            <a:avLst/>
            <a:gdLst/>
            <a:ahLst/>
            <a:cxnLst/>
            <a:rect l="l" t="t" r="r" b="b"/>
            <a:pathLst>
              <a:path w="1293" h="1402" extrusionOk="0">
                <a:moveTo>
                  <a:pt x="98" y="103"/>
                </a:moveTo>
                <a:cubicBezTo>
                  <a:pt x="49" y="51"/>
                  <a:pt x="0" y="0"/>
                  <a:pt x="196" y="139"/>
                </a:cubicBezTo>
                <a:cubicBezTo>
                  <a:pt x="392" y="278"/>
                  <a:pt x="1293" y="726"/>
                  <a:pt x="1275" y="936"/>
                </a:cubicBezTo>
                <a:cubicBezTo>
                  <a:pt x="1257" y="1146"/>
                  <a:pt x="671" y="1274"/>
                  <a:pt x="86" y="1402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c5cde911a3_0_134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36" name="Google Shape;436;g3c5cde911a3_0_134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437" name="Google Shape;437;g3c5cde911a3_0_13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38" name="Google Shape;438;g3c5cde911a3_0_13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of the rows is itself a one dimensional array of values</a:t>
            </a:r>
            <a:endParaRPr/>
          </a:p>
        </p:txBody>
      </p:sp>
      <p:pic>
        <p:nvPicPr>
          <p:cNvPr id="439" name="Google Shape;439;g3c5cde911a3_0_1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0412" y="3327400"/>
            <a:ext cx="4754562" cy="26511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grpSp>
        <p:nvGrpSpPr>
          <p:cNvPr id="440" name="Google Shape;440;g3c5cde911a3_0_134"/>
          <p:cNvGrpSpPr/>
          <p:nvPr/>
        </p:nvGrpSpPr>
        <p:grpSpPr>
          <a:xfrm>
            <a:off x="3529012" y="2816225"/>
            <a:ext cx="2857499" cy="928687"/>
            <a:chOff x="2223" y="1654"/>
            <a:chExt cx="1800" cy="585"/>
          </a:xfrm>
        </p:grpSpPr>
        <p:sp>
          <p:nvSpPr>
            <p:cNvPr id="441" name="Google Shape;441;g3c5cde911a3_0_134"/>
            <p:cNvSpPr/>
            <p:nvPr/>
          </p:nvSpPr>
          <p:spPr>
            <a:xfrm rot="-5400000">
              <a:off x="2973" y="1189"/>
              <a:ext cx="300" cy="1800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2" name="Google Shape;442;g3c5cde911a3_0_134"/>
            <p:cNvCxnSpPr/>
            <p:nvPr/>
          </p:nvCxnSpPr>
          <p:spPr>
            <a:xfrm>
              <a:off x="2378" y="1654"/>
              <a:ext cx="6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3" name="Google Shape;443;g3c5cde911a3_0_134"/>
          <p:cNvGrpSpPr/>
          <p:nvPr/>
        </p:nvGrpSpPr>
        <p:grpSpPr>
          <a:xfrm>
            <a:off x="374650" y="4627562"/>
            <a:ext cx="3333750" cy="1882774"/>
            <a:chOff x="236" y="2915"/>
            <a:chExt cx="2100" cy="1186"/>
          </a:xfrm>
        </p:grpSpPr>
        <p:sp>
          <p:nvSpPr>
            <p:cNvPr id="444" name="Google Shape;444;g3c5cde911a3_0_134"/>
            <p:cNvSpPr txBox="1"/>
            <p:nvPr/>
          </p:nvSpPr>
          <p:spPr>
            <a:xfrm>
              <a:off x="236" y="3501"/>
              <a:ext cx="2100" cy="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2000"/>
                <a:buFont typeface="Courier New"/>
                <a:buNone/>
              </a:pPr>
              <a:r>
                <a:rPr lang="en-US" sz="20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scoresTable[2]</a:t>
              </a:r>
              <a:endParaRPr sz="2000" b="0" i="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en-US" sz="18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is the whole row numbered 2</a:t>
              </a:r>
              <a:endParaRPr/>
            </a:p>
          </p:txBody>
        </p:sp>
        <p:cxnSp>
          <p:nvCxnSpPr>
            <p:cNvPr id="445" name="Google Shape;445;g3c5cde911a3_0_134"/>
            <p:cNvCxnSpPr/>
            <p:nvPr/>
          </p:nvCxnSpPr>
          <p:spPr>
            <a:xfrm rot="10800000" flipH="1">
              <a:off x="1226" y="2915"/>
              <a:ext cx="600" cy="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  <p:grpSp>
        <p:nvGrpSpPr>
          <p:cNvPr id="446" name="Google Shape;446;g3c5cde911a3_0_134"/>
          <p:cNvGrpSpPr/>
          <p:nvPr/>
        </p:nvGrpSpPr>
        <p:grpSpPr>
          <a:xfrm>
            <a:off x="5064125" y="4103687"/>
            <a:ext cx="3467100" cy="1296987"/>
            <a:chOff x="3190" y="2585"/>
            <a:chExt cx="2184" cy="817"/>
          </a:xfrm>
        </p:grpSpPr>
        <p:sp>
          <p:nvSpPr>
            <p:cNvPr id="447" name="Google Shape;447;g3c5cde911a3_0_134"/>
            <p:cNvSpPr/>
            <p:nvPr/>
          </p:nvSpPr>
          <p:spPr>
            <a:xfrm>
              <a:off x="3190" y="2585"/>
              <a:ext cx="600" cy="300"/>
            </a:xfrm>
            <a:prstGeom prst="roundRect">
              <a:avLst>
                <a:gd name="adj" fmla="val 16667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c5cde911a3_0_134"/>
            <p:cNvSpPr txBox="1"/>
            <p:nvPr/>
          </p:nvSpPr>
          <p:spPr>
            <a:xfrm>
              <a:off x="3574" y="3102"/>
              <a:ext cx="18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1800"/>
                <a:buFont typeface="Courier New"/>
                <a:buNone/>
              </a:pPr>
              <a:r>
                <a:rPr lang="en-US" sz="18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 [1][3]</a:t>
              </a:r>
              <a:endParaRPr/>
            </a:p>
          </p:txBody>
        </p:sp>
        <p:cxnSp>
          <p:nvCxnSpPr>
            <p:cNvPr id="449" name="Google Shape;449;g3c5cde911a3_0_134"/>
            <p:cNvCxnSpPr/>
            <p:nvPr/>
          </p:nvCxnSpPr>
          <p:spPr>
            <a:xfrm rot="10800000">
              <a:off x="3584" y="2816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c5cde911a3_0_15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55" name="Google Shape;455;g3c5cde911a3_0_15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456" name="Google Shape;456;g3c5cde911a3_0_15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Allocation in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2-Dimensional Arrays</a:t>
            </a:r>
            <a:endParaRPr/>
          </a:p>
        </p:txBody>
      </p:sp>
      <p:sp>
        <p:nvSpPr>
          <p:cNvPr id="457" name="Google Shape;457;g3c5cde911a3_0_15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stored in rowwise order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column major order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g3c5cde911a3_0_1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75100" y="1776412"/>
            <a:ext cx="4662487" cy="407828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59" name="Google Shape;459;g3c5cde911a3_0_152"/>
          <p:cNvSpPr txBox="1"/>
          <p:nvPr/>
        </p:nvSpPr>
        <p:spPr>
          <a:xfrm>
            <a:off x="962025" y="5391150"/>
            <a:ext cx="3703500" cy="7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location [0][4] is followed in memory by location [1][0]</a:t>
            </a:r>
            <a:endParaRPr/>
          </a:p>
        </p:txBody>
      </p:sp>
      <p:sp>
        <p:nvSpPr>
          <p:cNvPr id="460" name="Google Shape;460;g3c5cde911a3_0_152"/>
          <p:cNvSpPr/>
          <p:nvPr/>
        </p:nvSpPr>
        <p:spPr>
          <a:xfrm>
            <a:off x="5321300" y="3189287"/>
            <a:ext cx="3000300" cy="444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1" name="Google Shape;461;g3c5cde911a3_0_152"/>
          <p:cNvCxnSpPr/>
          <p:nvPr/>
        </p:nvCxnSpPr>
        <p:spPr>
          <a:xfrm rot="10800000" flipH="1">
            <a:off x="3189287" y="3705125"/>
            <a:ext cx="1992300" cy="166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c5cde911a3_0_163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67" name="Google Shape;467;g3c5cde911a3_0_163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468" name="Google Shape;468;g3c5cde911a3_0_16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 Parameters</a:t>
            </a:r>
            <a:endParaRPr/>
          </a:p>
        </p:txBody>
      </p:sp>
      <p:sp>
        <p:nvSpPr>
          <p:cNvPr id="469" name="Google Shape;469;g3c5cde911a3_0_16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type and name of the array (a pointer to the base address)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rows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columns (or the length of each row)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 program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5cde911a3_0_170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75" name="Google Shape;475;g3c5cde911a3_0_170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476" name="Google Shape;476;g3c5cde911a3_0_17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Arrays</a:t>
            </a:r>
            <a:endParaRPr/>
          </a:p>
        </p:txBody>
      </p:sp>
      <p:sp>
        <p:nvSpPr>
          <p:cNvPr id="477" name="Google Shape;477;g3c5cde911a3_0_17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earlier mention of arrays being fixed size at compile time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Space wasted by unused elements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cannot adjust if size set too small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(run time) allocation mechanism provided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Acquire memory as needed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Release memory when no longer needed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commands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5cde911a3_0_17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83" name="Google Shape;483;g3c5cde911a3_0_17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484" name="Google Shape;484;g3c5cde911a3_0_17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Operator</a:t>
            </a:r>
            <a:endParaRPr/>
          </a:p>
        </p:txBody>
      </p:sp>
      <p:sp>
        <p:nvSpPr>
          <p:cNvPr id="485" name="Google Shape;485;g3c5cde911a3_0_17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for arrays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 Type [capacity]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command issues a run-time request for a block of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Asks for enough memory for the specified number of elements of the stated type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*arrayPtr;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arrayPtr = new int[6];</a:t>
            </a:r>
            <a:endParaRPr/>
          </a:p>
        </p:txBody>
      </p:sp>
      <p:pic>
        <p:nvPicPr>
          <p:cNvPr id="486" name="Google Shape;486;g3c5cde911a3_0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64137" y="5345112"/>
            <a:ext cx="3562350" cy="10287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c5cde911a3_0_18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92" name="Google Shape;492;g3c5cde911a3_0_18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493" name="Google Shape;493;g3c5cde911a3_0_18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Arithmetic</a:t>
            </a:r>
            <a:endParaRPr/>
          </a:p>
        </p:txBody>
      </p:sp>
      <p:sp>
        <p:nvSpPr>
          <p:cNvPr id="494" name="Google Shape;494;g3c5cde911a3_0_18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alter pointer contents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pointer is a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not a pointer constant like an array name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Given: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ptr++;</a:t>
            </a:r>
            <a:endParaRPr/>
          </a:p>
        </p:txBody>
      </p:sp>
      <p:pic>
        <p:nvPicPr>
          <p:cNvPr id="495" name="Google Shape;495;g3c5cde911a3_0_18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90937" y="3298825"/>
            <a:ext cx="3843337" cy="14795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496" name="Google Shape;496;g3c5cde911a3_0_18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82975" y="4960937"/>
            <a:ext cx="4202112" cy="145415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497" name="Google Shape;497;g3c5cde911a3_0_185"/>
          <p:cNvSpPr/>
          <p:nvPr/>
        </p:nvSpPr>
        <p:spPr>
          <a:xfrm>
            <a:off x="4383087" y="5767387"/>
            <a:ext cx="234900" cy="21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c5cde911a3_0_19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3" name="Google Shape;503;g3c5cde911a3_0_19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504" name="Google Shape;504;g3c5cde911a3_0_1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Failures of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</p:txBody>
      </p:sp>
      <p:sp>
        <p:nvSpPr>
          <p:cNvPr id="505" name="Google Shape;505;g3c5cde911a3_0_1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new execute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from heap or free store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Allocates that block to executing program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up available heap memory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not enough memory for request, new throws an exception … </a:t>
            </a:r>
            <a:r>
              <a:rPr lang="en-US" sz="28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bad_alloc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3.8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mechanism to take appropriate action,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 3.9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c5cde911a3_0_20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1" name="Google Shape;511;g3c5cde911a3_0_20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512" name="Google Shape;512;g3c5cde911a3_0_20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4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</p:txBody>
      </p:sp>
      <p:sp>
        <p:nvSpPr>
          <p:cNvPr id="513" name="Google Shape;513;g3c5cde911a3_0_20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Counterpart to the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be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returned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the heap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then be reused by later allocations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pointerVariable;</a:t>
            </a:r>
            <a:b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[ ] arrayPointerVariable;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Frees the dynamically memory whose address is stored in the variable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Does </a:t>
            </a:r>
            <a:r>
              <a:rPr lang="en-US" sz="28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delete the variable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c5cde911a3_0_20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9" name="Google Shape;519;g3c5cde911a3_0_20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520" name="Google Shape;520;g3c5cde911a3_0_20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Leaks</a:t>
            </a:r>
            <a:endParaRPr/>
          </a:p>
        </p:txBody>
      </p:sp>
      <p:sp>
        <p:nvSpPr>
          <p:cNvPr id="521" name="Google Shape;521;g3c5cde911a3_0_20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for programmer to make sure to deallocate memory originally allocated by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if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called again for </a:t>
            </a:r>
            <a:r>
              <a:rPr lang="en-US" sz="32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intPtr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Originally allocated memory now cannot be accessed, nor is it available for reallocation</a:t>
            </a:r>
            <a:endParaRPr/>
          </a:p>
        </p:txBody>
      </p:sp>
      <p:pic>
        <p:nvPicPr>
          <p:cNvPr id="522" name="Google Shape;522;g3c5cde911a3_0_20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2787" y="3213100"/>
            <a:ext cx="5067300" cy="1533525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cxnSp>
        <p:nvCxnSpPr>
          <p:cNvPr id="523" name="Google Shape;523;g3c5cde911a3_0_209"/>
          <p:cNvCxnSpPr/>
          <p:nvPr/>
        </p:nvCxnSpPr>
        <p:spPr>
          <a:xfrm rot="10800000" flipH="1">
            <a:off x="1528762" y="3876787"/>
            <a:ext cx="1420800" cy="10905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5cde911a3_0_21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29" name="Google Shape;529;g3c5cde911a3_0_21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530" name="Google Shape;530;g3c5cde911a3_0_21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Uses of Pointers</a:t>
            </a:r>
            <a:endParaRPr/>
          </a:p>
        </p:txBody>
      </p:sp>
      <p:sp>
        <p:nvSpPr>
          <p:cNvPr id="531" name="Google Shape;531;g3c5cde911a3_0_2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Command-line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the counter – how many arguments are found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pointer to the array of pointers to </a:t>
            </a: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</a:t>
            </a: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(the arguments)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Functions as arguments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name of a function is a pointer to code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passed to another function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c5cde911a3_0_225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37" name="Google Shape;537;g3c5cde911a3_0_225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538" name="Google Shape;538;g3c5cde911a3_0_22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Aggregate Data Types</a:t>
            </a:r>
            <a:endParaRPr/>
          </a:p>
        </p:txBody>
      </p:sp>
      <p:sp>
        <p:nvSpPr>
          <p:cNvPr id="539" name="Google Shape;539;g3c5cde911a3_0_2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Predefined types not always adequate to model the problem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multiple attributes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collections of heterogeneous elements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3200" b="1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new types with multiple attributes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c5cde911a3_0_232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45" name="Google Shape;545;g3c5cde911a3_0_232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546" name="Google Shape;546;g3c5cde911a3_0_23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Structures</a:t>
            </a:r>
            <a:endParaRPr/>
          </a:p>
        </p:txBody>
      </p:sp>
      <p:sp>
        <p:nvSpPr>
          <p:cNvPr id="547" name="Google Shape;547;g3c5cde911a3_0_2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Characteristics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 a fixed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ordered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may be of different size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 access of elements by name (not index)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struct Date {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month, day, year;</a:t>
            </a:r>
            <a:b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dayOfWeek [12]; 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lang="en-US" sz="32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c5cde911a3_0_23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53" name="Google Shape;553;g3c5cde911a3_0_23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554" name="Google Shape;554;g3c5cde911a3_0_23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FAQs about Structures</a:t>
            </a:r>
            <a:endParaRPr/>
          </a:p>
        </p:txBody>
      </p:sp>
      <p:sp>
        <p:nvSpPr>
          <p:cNvPr id="555" name="Google Shape;555;g3c5cde911a3_0_23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be nested (can contain struct objects)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members with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object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dot (member selector operator)  .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member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endParaRPr/>
          </a:p>
          <a:p>
            <a:pPr marL="742950" marR="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lang="en-US" sz="2400" b="1" i="0" u="none" strike="noStrike" cap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today.month;</a:t>
            </a:r>
            <a:endParaRPr/>
          </a:p>
        </p:txBody>
      </p:sp>
      <p:sp>
        <p:nvSpPr>
          <p:cNvPr id="556" name="Google Shape;556;g3c5cde911a3_0_239"/>
          <p:cNvSpPr/>
          <p:nvPr/>
        </p:nvSpPr>
        <p:spPr>
          <a:xfrm>
            <a:off x="2320925" y="5534025"/>
            <a:ext cx="2508300" cy="6795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c5cde911a3_0_239"/>
          <p:cNvSpPr/>
          <p:nvPr/>
        </p:nvSpPr>
        <p:spPr>
          <a:xfrm>
            <a:off x="4994275" y="3024187"/>
            <a:ext cx="2000250" cy="2414587"/>
          </a:xfrm>
          <a:custGeom>
            <a:avLst/>
            <a:gdLst/>
            <a:ahLst/>
            <a:cxnLst/>
            <a:rect l="l" t="t" r="r" b="b"/>
            <a:pathLst>
              <a:path w="1260" h="1521" extrusionOk="0">
                <a:moveTo>
                  <a:pt x="118" y="0"/>
                </a:moveTo>
                <a:cubicBezTo>
                  <a:pt x="689" y="102"/>
                  <a:pt x="1260" y="205"/>
                  <a:pt x="1240" y="458"/>
                </a:cubicBezTo>
                <a:cubicBezTo>
                  <a:pt x="1220" y="711"/>
                  <a:pt x="610" y="1116"/>
                  <a:pt x="0" y="1521"/>
                </a:cubicBez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524288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c5cde911a3_0_248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63" name="Google Shape;563;g3c5cde911a3_0_248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564" name="Google Shape;564;g3c5cde911a3_0_24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 to Structs</a:t>
            </a:r>
            <a:endParaRPr/>
          </a:p>
        </p:txBody>
      </p:sp>
      <p:sp>
        <p:nvSpPr>
          <p:cNvPr id="565" name="Google Shape;565;g3c5cde911a3_0_24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bound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type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*datePtr = &amp;today;</a:t>
            </a:r>
            <a:endParaRPr/>
          </a:p>
          <a:p>
            <a:pPr marL="342900" marR="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for accessing the original location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(*datePtr).day;</a:t>
            </a:r>
            <a:b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cin &gt;&gt; datePtr-&gt;year;</a:t>
            </a:r>
            <a:endParaRPr/>
          </a:p>
        </p:txBody>
      </p:sp>
      <p:grpSp>
        <p:nvGrpSpPr>
          <p:cNvPr id="566" name="Google Shape;566;g3c5cde911a3_0_248"/>
          <p:cNvGrpSpPr/>
          <p:nvPr/>
        </p:nvGrpSpPr>
        <p:grpSpPr>
          <a:xfrm>
            <a:off x="2354262" y="4826000"/>
            <a:ext cx="4286250" cy="1504950"/>
            <a:chOff x="1483" y="3040"/>
            <a:chExt cx="2700" cy="948"/>
          </a:xfrm>
        </p:grpSpPr>
        <p:sp>
          <p:nvSpPr>
            <p:cNvPr id="567" name="Google Shape;567;g3c5cde911a3_0_248"/>
            <p:cNvSpPr txBox="1"/>
            <p:nvPr/>
          </p:nvSpPr>
          <p:spPr>
            <a:xfrm>
              <a:off x="1483" y="3688"/>
              <a:ext cx="27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st="107763" dir="2700000">
                <a:schemeClr val="lt2">
                  <a:alpha val="50199"/>
                </a:schemeClr>
              </a:outerShdw>
            </a:effectLst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Note use of arrow</a:t>
              </a:r>
              <a:r>
                <a:rPr lang="en-US" sz="2400" b="1" i="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-&gt;</a:t>
              </a:r>
              <a:r>
                <a:rPr lang="en-US" sz="2000" b="0" i="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 operator</a:t>
              </a:r>
              <a:endParaRPr/>
            </a:p>
          </p:txBody>
        </p:sp>
        <p:sp>
          <p:nvSpPr>
            <p:cNvPr id="568" name="Google Shape;568;g3c5cde911a3_0_248"/>
            <p:cNvSpPr/>
            <p:nvPr/>
          </p:nvSpPr>
          <p:spPr>
            <a:xfrm>
              <a:off x="2083" y="3040"/>
              <a:ext cx="300" cy="3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9" name="Google Shape;569;g3c5cde911a3_0_248"/>
            <p:cNvCxnSpPr/>
            <p:nvPr/>
          </p:nvCxnSpPr>
          <p:spPr>
            <a:xfrm rot="10800000">
              <a:off x="2654" y="3377"/>
              <a:ext cx="300" cy="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c5cde911a3_0_259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76" name="Google Shape;576;g3c5cde911a3_0_259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577" name="Google Shape;577;g3c5cde911a3_0_259"/>
          <p:cNvSpPr txBox="1">
            <a:spLocks noGrp="1"/>
          </p:cNvSpPr>
          <p:nvPr>
            <p:ph type="title" idx="4294967295"/>
          </p:nvPr>
        </p:nvSpPr>
        <p:spPr>
          <a:xfrm>
            <a:off x="0" y="381000"/>
            <a:ext cx="9144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Description of Procedural Programming</a:t>
            </a:r>
            <a:endParaRPr/>
          </a:p>
        </p:txBody>
      </p:sp>
      <p:sp>
        <p:nvSpPr>
          <p:cNvPr id="578" name="Google Shape;578;g3c5cde911a3_0_259"/>
          <p:cNvSpPr txBox="1">
            <a:spLocks noGrp="1"/>
          </p:cNvSpPr>
          <p:nvPr>
            <p:ph type="body" idx="4294967295"/>
          </p:nvPr>
        </p:nvSpPr>
        <p:spPr>
          <a:xfrm>
            <a:off x="347662" y="1304925"/>
            <a:ext cx="879630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0" marR="0" lvl="2" indent="-1270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languages  : C, FORTRAN,  and Pascal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Action-oriented — concentrates on the verbs </a:t>
            </a:r>
            <a:endParaRPr/>
          </a:p>
          <a:p>
            <a:pPr marL="342900" marR="0" lvl="0" indent="-342900" algn="l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marR="0" lvl="1" indent="-285750" algn="l" rtl="0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c5cde911a3_0_267"/>
          <p:cNvSpPr txBox="1">
            <a:spLocks noGrp="1"/>
          </p:cNvSpPr>
          <p:nvPr>
            <p:ph type="ftr" idx="11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4" name="Google Shape;584;g3c5cde911a3_0_267"/>
          <p:cNvSpPr txBox="1">
            <a:spLocks noGrp="1"/>
          </p:cNvSpPr>
          <p:nvPr>
            <p:ph type="sldNum" idx="12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585" name="Google Shape;585;g3c5cde911a3_0_2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 sz="36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Procedural Programming</a:t>
            </a:r>
            <a:endParaRPr/>
          </a:p>
        </p:txBody>
      </p:sp>
      <p:sp>
        <p:nvSpPr>
          <p:cNvPr id="586" name="Google Shape;586;g3c5cde911a3_0_2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type for processing times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hh:mm AM/PM format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military format (24 hr clock)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must determine 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attributes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on the data</a:t>
            </a:r>
            <a:endParaRPr/>
          </a:p>
          <a:p>
            <a:pPr marL="742950" marR="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implement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header,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3-11A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3-11B</a:t>
            </a:r>
            <a:endParaRPr/>
          </a:p>
          <a:p>
            <a:pPr marL="342900" marR="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 program,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3-11C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c5cde911a3_0_30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92" name="Google Shape;592;g3c5cde911a3_0_30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59</a:t>
            </a:fld>
            <a:endParaRPr/>
          </a:p>
        </p:txBody>
      </p:sp>
      <p:sp>
        <p:nvSpPr>
          <p:cNvPr id="593" name="Google Shape;593;g3c5cde911a3_0_30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about OOP and ADTs</a:t>
            </a:r>
            <a:b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/>
          </a:p>
        </p:txBody>
      </p:sp>
      <p:sp>
        <p:nvSpPr>
          <p:cNvPr id="594" name="Google Shape;594;g3c5cde911a3_0_30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4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c5cde911a3_0_30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0" name="Google Shape;600;g3c5cde911a3_0_30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60</a:t>
            </a:fld>
            <a:endParaRPr/>
          </a:p>
        </p:txBody>
      </p:sp>
      <p:sp>
        <p:nvSpPr>
          <p:cNvPr id="601" name="Google Shape;601;g3c5cde911a3_0_30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602" name="Google Shape;602;g3c5cde911a3_0_30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09600" lvl="0" indent="-609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4.1 Procedural vs. Object-Oriented Programming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4.2 Classes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4.3 Example: A First Version of a User-Defined Time Class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4.4 Class Constructors</a:t>
            </a:r>
            <a:endParaRPr/>
          </a:p>
          <a:p>
            <a:pPr marL="609600" lvl="0" indent="-609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4.5 Other Class Operators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c5cde911a3_0_31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8" name="Google Shape;608;g3c5cde911a3_0_31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61</a:t>
            </a:fld>
            <a:endParaRPr/>
          </a:p>
        </p:txBody>
      </p:sp>
      <p:sp>
        <p:nvSpPr>
          <p:cNvPr id="609" name="Google Shape;609;g3c5cde911a3_0_31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10" name="Google Shape;610;g3c5cde911a3_0_3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Contrast OOP with procedural programming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Study in detail a specific example of how a class is built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operators can be overloaded for new 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conditional compilation directives are used to avoid redundant declarations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pointers to class objects – the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pointer, in particular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c5cde911a3_0_32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17" name="Google Shape;617;g3c5cde911a3_0_32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62</a:t>
            </a:fld>
            <a:endParaRPr/>
          </a:p>
        </p:txBody>
      </p:sp>
      <p:sp>
        <p:nvSpPr>
          <p:cNvPr id="618" name="Google Shape;618;g3c5cde911a3_0_32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Contrast Procedural, Object Oriented Paradigms</a:t>
            </a:r>
            <a:endParaRPr/>
          </a:p>
        </p:txBody>
      </p:sp>
      <p:sp>
        <p:nvSpPr>
          <p:cNvPr id="619" name="Google Shape;619;g3c5cde911a3_0_3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23938" lvl="2" indent="-6508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ctr" rtl="0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Procedural</a:t>
            </a:r>
            <a:r>
              <a:rPr lang="en-US" sz="32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-oriented — concentrates 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verbs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17145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  <p:sp>
        <p:nvSpPr>
          <p:cNvPr id="620" name="Google Shape;620;g3c5cde911a3_0_321"/>
          <p:cNvSpPr txBox="1">
            <a:spLocks noGrp="1"/>
          </p:cNvSpPr>
          <p:nvPr>
            <p:ph type="body" idx="1"/>
          </p:nvPr>
        </p:nvSpPr>
        <p:spPr>
          <a:xfrm>
            <a:off x="4419600" y="1143000"/>
            <a:ext cx="449580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69863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US" sz="28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Object-oriented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marL="342900" lvl="0" indent="-16986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Focuses on the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nouns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problem specification</a:t>
            </a:r>
            <a:endParaRPr/>
          </a:p>
          <a:p>
            <a:pPr marL="342900" lvl="0" indent="-169863" algn="l" rtl="0">
              <a:lnSpc>
                <a:spcPct val="1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objects needed for  problem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how they should work together to solve the problem.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types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classes 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made up of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1143000" lvl="2" indent="-228600" algn="l" rtl="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</a:t>
            </a:r>
            <a:r>
              <a:rPr lang="en-US" sz="1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operate on the data.  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Instances of a type (class)  called </a:t>
            </a:r>
            <a:r>
              <a:rPr lang="en-US" sz="2000" b="0" i="1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objects.</a:t>
            </a:r>
            <a:r>
              <a:rPr lang="en-US" sz="2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cxnSp>
        <p:nvCxnSpPr>
          <p:cNvPr id="621" name="Google Shape;621;g3c5cde911a3_0_321"/>
          <p:cNvCxnSpPr/>
          <p:nvPr/>
        </p:nvCxnSpPr>
        <p:spPr>
          <a:xfrm>
            <a:off x="4495800" y="1219200"/>
            <a:ext cx="0" cy="5029200"/>
          </a:xfrm>
          <a:prstGeom prst="straightConnector1">
            <a:avLst/>
          </a:prstGeom>
          <a:noFill/>
          <a:ln w="76200" cap="flat" cmpd="tri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622" name="Google Shape;622;g3c5cde911a3_0_321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c5cde911a3_0_33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28" name="Google Shape;628;g3c5cde911a3_0_33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63</a:t>
            </a:fld>
            <a:endParaRPr/>
          </a:p>
        </p:txBody>
      </p:sp>
      <p:sp>
        <p:nvSpPr>
          <p:cNvPr id="629" name="Google Shape;629;g3c5cde911a3_0_33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and Classes 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Similarities</a:t>
            </a:r>
            <a:endParaRPr/>
          </a:p>
        </p:txBody>
      </p:sp>
      <p:sp>
        <p:nvSpPr>
          <p:cNvPr id="630" name="Google Shape;630;g3c5cde911a3_0_3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Essentially the same syntax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are used to model objects with multiple attributes  (characteristics)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as data members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fields … or …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 or attribute variables). 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Thus, both are used to process non-homogeneous data sets.</a:t>
            </a:r>
            <a:endParaRPr/>
          </a:p>
          <a:p>
            <a:pPr marL="342900" lvl="0" indent="-1397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c5cde911a3_0_33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36" name="Google Shape;636;g3c5cde911a3_0_33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64</a:t>
            </a:fld>
            <a:endParaRPr/>
          </a:p>
        </p:txBody>
      </p:sp>
      <p:sp>
        <p:nvSpPr>
          <p:cNvPr id="637" name="Google Shape;637;g3c5cde911a3_0_33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vs. Classes</a:t>
            </a:r>
            <a:b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Differences</a:t>
            </a:r>
            <a:endParaRPr/>
          </a:p>
        </p:txBody>
      </p:sp>
      <p:sp>
        <p:nvSpPr>
          <p:cNvPr id="638" name="Google Shape;638;g3c5cde911a3_0_33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classes in C	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Members public by default</a:t>
            </a:r>
            <a:endParaRPr/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651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private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c5cde911a3_0_338"/>
          <p:cNvSpPr txBox="1">
            <a:spLocks noGrp="1"/>
          </p:cNvSpPr>
          <p:nvPr>
            <p:ph type="body" idx="1"/>
          </p:nvPr>
        </p:nvSpPr>
        <p:spPr>
          <a:xfrm>
            <a:off x="4881562" y="1600200"/>
            <a:ext cx="42624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structs and classes in C++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have members declared private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members are private by default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public</a:t>
            </a:r>
            <a:endParaRPr/>
          </a:p>
        </p:txBody>
      </p:sp>
      <p:sp>
        <p:nvSpPr>
          <p:cNvPr id="640" name="Google Shape;640;g3c5cde911a3_0_338"/>
          <p:cNvSpPr txBox="1">
            <a:spLocks noGrp="1"/>
          </p:cNvSpPr>
          <p:nvPr>
            <p:ph type="body" idx="2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c5cde911a3_0_346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46" name="Google Shape;646;g3c5cde911a3_0_346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65</a:t>
            </a:fld>
            <a:endParaRPr/>
          </a:p>
        </p:txBody>
      </p:sp>
      <p:sp>
        <p:nvSpPr>
          <p:cNvPr id="647" name="Google Shape;647;g3c5cde911a3_0_346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Advantages in C++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(structs and Classes)</a:t>
            </a:r>
            <a:endParaRPr/>
          </a:p>
        </p:txBody>
      </p:sp>
      <p:sp>
        <p:nvSpPr>
          <p:cNvPr id="648" name="Google Shape;648;g3c5cde911a3_0_3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structs and classes model objects which have: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Attributes represented as data members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represented as functions (or methods)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Leads to </a:t>
            </a:r>
            <a:r>
              <a:rPr lang="en-US" sz="32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oriented programming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 are self contained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"I can do it myself" mentality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They do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pass a parameter to an external function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c5cde911a3_0_353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54" name="Google Shape;654;g3c5cde911a3_0_353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66</a:t>
            </a:fld>
            <a:endParaRPr/>
          </a:p>
        </p:txBody>
      </p:sp>
      <p:sp>
        <p:nvSpPr>
          <p:cNvPr id="655" name="Google Shape;655;g3c5cde911a3_0_353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Declaration</a:t>
            </a:r>
            <a:endParaRPr/>
          </a:p>
        </p:txBody>
      </p:sp>
      <p:sp>
        <p:nvSpPr>
          <p:cNvPr id="656" name="Google Shape;656;g3c5cde911a3_0_35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 ClassName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public: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public members</a:t>
            </a:r>
            <a:b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private: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lang="en-US" sz="2400" b="1" i="1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private members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c5cde911a3_0_36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2" name="Google Shape;662;g3c5cde911a3_0_36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67</a:t>
            </a:fld>
            <a:endParaRPr/>
          </a:p>
        </p:txBody>
      </p:sp>
      <p:sp>
        <p:nvSpPr>
          <p:cNvPr id="663" name="Google Shape;663;g3c5cde911a3_0_36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Designing a Class</a:t>
            </a:r>
            <a:endParaRPr/>
          </a:p>
        </p:txBody>
      </p:sp>
      <p:sp>
        <p:nvSpPr>
          <p:cNvPr id="664" name="Google Shape;664;g3c5cde911a3_0_36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normally placed in private: section of a class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 usually in public: section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Typically public: section followed by private: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although not required by compiler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c5cde911a3_0_36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0" name="Google Shape;670;g3c5cde911a3_0_36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68</a:t>
            </a:fld>
            <a:endParaRPr/>
          </a:p>
        </p:txBody>
      </p:sp>
      <p:sp>
        <p:nvSpPr>
          <p:cNvPr id="671" name="Google Shape;671;g3c5cde911a3_0_36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Libraries</a:t>
            </a:r>
            <a:endParaRPr/>
          </a:p>
        </p:txBody>
      </p:sp>
      <p:sp>
        <p:nvSpPr>
          <p:cNvPr id="672" name="Google Shape;672;g3c5cde911a3_0_36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declarations placed in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.hpp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Contains data items and prototypes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prefix name as header file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.cpp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Programs which use this class library called client programs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c5cde911a3_0_37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8" name="Google Shape;678;g3c5cde911a3_0_37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69</a:t>
            </a:fld>
            <a:endParaRPr/>
          </a:p>
        </p:txBody>
      </p:sp>
      <p:sp>
        <p:nvSpPr>
          <p:cNvPr id="679" name="Google Shape;679;g3c5cde911a3_0_37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Translating a Library</a:t>
            </a:r>
            <a:endParaRPr/>
          </a:p>
        </p:txBody>
      </p:sp>
      <p:pic>
        <p:nvPicPr>
          <p:cNvPr id="680" name="Google Shape;680;g3c5cde911a3_0_3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425" y="1379537"/>
            <a:ext cx="7689851" cy="47990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sp>
        <p:nvSpPr>
          <p:cNvPr id="681" name="Google Shape;681;g3c5cde911a3_0_37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c5cde911a3_0_38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87" name="Google Shape;687;g3c5cde911a3_0_38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70</a:t>
            </a:fld>
            <a:endParaRPr/>
          </a:p>
        </p:txBody>
      </p:sp>
      <p:sp>
        <p:nvSpPr>
          <p:cNvPr id="688" name="Google Shape;688;g3c5cde911a3_0_38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User-Defined </a:t>
            </a:r>
            <a:b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40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40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Class</a:t>
            </a:r>
            <a:endParaRPr/>
          </a:p>
        </p:txBody>
      </p:sp>
      <p:sp>
        <p:nvSpPr>
          <p:cNvPr id="689" name="Google Shape;689;g3c5cde911a3_0_38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Time struct from previous chapter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required use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parameter in the functions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we create a Time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endParaRPr sz="28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object, done </a:t>
            </a:r>
            <a:r>
              <a:rPr lang="en-US" sz="24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 the object itself</a:t>
            </a:r>
            <a:endParaRPr sz="24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interface for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class object, 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Fig. 4.2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private – inaccessible to users of the class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lang="en-US" sz="24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Information hiding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c5cde911a3_0_38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95" name="Google Shape;695;g3c5cde911a3_0_38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71</a:t>
            </a:fld>
            <a:endParaRPr/>
          </a:p>
        </p:txBody>
      </p:sp>
      <p:sp>
        <p:nvSpPr>
          <p:cNvPr id="696" name="Google Shape;696;g3c5cde911a3_0_38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697" name="Google Shape;697;g3c5cde911a3_0_38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constructor definition in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Time.cpp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example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ClassName::ClassName (parameter_list)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 member_initializer_list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// body of constructor definition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c5cde911a3_0_39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03" name="Google Shape;703;g3c5cde911a3_0_39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72</a:t>
            </a:fld>
            <a:endParaRPr/>
          </a:p>
        </p:txBody>
      </p:sp>
      <p:sp>
        <p:nvSpPr>
          <p:cNvPr id="704" name="Google Shape;704;g3c5cde911a3_0_39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705" name="Google Shape;705;g3c5cde911a3_0_39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39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default constructor</a:t>
            </a:r>
            <a:endParaRPr/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1397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 b="0" i="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explicit-value 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/>
          </a:p>
        </p:txBody>
      </p:sp>
      <p:pic>
        <p:nvPicPr>
          <p:cNvPr id="706" name="Google Shape;706;g3c5cde911a3_0_3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34112" y="1398587"/>
            <a:ext cx="2393950" cy="20558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07" name="Google Shape;707;g3c5cde911a3_0_395"/>
          <p:cNvPicPr preferRelativeResize="0"/>
          <p:nvPr/>
        </p:nvPicPr>
        <p:blipFill rotWithShape="1">
          <a:blip r:embed="rId4">
            <a:alphaModFix/>
          </a:blip>
          <a:srcRect l="3026" b="892"/>
          <a:stretch/>
        </p:blipFill>
        <p:spPr>
          <a:xfrm>
            <a:off x="6203950" y="4100512"/>
            <a:ext cx="2497137" cy="21209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c5cde911a3_0_40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13" name="Google Shape;713;g3c5cde911a3_0_40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73</a:t>
            </a:fld>
            <a:endParaRPr/>
          </a:p>
        </p:txBody>
      </p:sp>
      <p:sp>
        <p:nvSpPr>
          <p:cNvPr id="714" name="Google Shape;714;g3c5cde911a3_0_40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Overloading Functions</a:t>
            </a:r>
            <a:endParaRPr/>
          </a:p>
        </p:txBody>
      </p:sp>
      <p:sp>
        <p:nvSpPr>
          <p:cNvPr id="715" name="Google Shape;715;g3c5cde911a3_0_40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existence of multiple functions with the same name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Time();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initMinutes, 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initAMPM);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overloading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compares numbers and types of arguments of overloaded functions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Checks the "signature" of the functions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3c5cde911a3_0_41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21" name="Google Shape;721;g3c5cde911a3_0_41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74</a:t>
            </a:fld>
            <a:endParaRPr/>
          </a:p>
        </p:txBody>
      </p:sp>
      <p:sp>
        <p:nvSpPr>
          <p:cNvPr id="722" name="Google Shape;722;g3c5cde911a3_0_411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Default Arguments</a:t>
            </a:r>
            <a:endParaRPr/>
          </a:p>
        </p:txBody>
      </p:sp>
      <p:sp>
        <p:nvSpPr>
          <p:cNvPr id="723" name="Google Shape;723;g3c5cde911a3_0_4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default values for constructor arguments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 = 12,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 = 0,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 = 'A');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t1, t2(5), t3(6,30), t4(8,15,'P');</a:t>
            </a:r>
            <a:endParaRPr/>
          </a:p>
          <a:p>
            <a:pPr marL="342900" lvl="0" indent="-1905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24" name="Google Shape;724;g3c5cde911a3_0_4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38287" y="5111750"/>
            <a:ext cx="5868987" cy="121761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c5cde911a3_0_419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30" name="Google Shape;730;g3c5cde911a3_0_419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75</a:t>
            </a:fld>
            <a:endParaRPr/>
          </a:p>
        </p:txBody>
      </p:sp>
      <p:sp>
        <p:nvSpPr>
          <p:cNvPr id="731" name="Google Shape;731;g3c5cde911a3_0_419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Copy Operations</a:t>
            </a:r>
            <a:endParaRPr/>
          </a:p>
        </p:txBody>
      </p:sp>
      <p:sp>
        <p:nvSpPr>
          <p:cNvPr id="732" name="Google Shape;732;g3c5cde911a3_0_4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initialization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 = bedTime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Assignment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 = midnight;</a:t>
            </a:r>
            <a:endParaRPr/>
          </a:p>
        </p:txBody>
      </p:sp>
      <p:pic>
        <p:nvPicPr>
          <p:cNvPr id="733" name="Google Shape;733;g3c5cde911a3_0_4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19612" y="1625600"/>
            <a:ext cx="4041775" cy="1447800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  <p:pic>
        <p:nvPicPr>
          <p:cNvPr id="734" name="Google Shape;734;g3c5cde911a3_0_4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25950" y="4143375"/>
            <a:ext cx="4195762" cy="15287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c5cde911a3_0_42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0" name="Google Shape;740;g3c5cde911a3_0_42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</a:t>
            </a:fld>
            <a:endParaRPr/>
          </a:p>
        </p:txBody>
      </p:sp>
      <p:sp>
        <p:nvSpPr>
          <p:cNvPr id="741" name="Google Shape;741;g3c5cde911a3_0_428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Class Operations</a:t>
            </a:r>
            <a:endParaRPr/>
          </a:p>
        </p:txBody>
      </p:sp>
      <p:sp>
        <p:nvSpPr>
          <p:cNvPr id="742" name="Google Shape;742;g3c5cde911a3_0_4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Accessors and Mutators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"get" and "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 functions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Overloading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symbol can be used more than one way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declaration for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I/O operators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&lt;&lt; and &gt;&gt;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definition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overloaded I/O operators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c5cde911a3_0_43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8" name="Google Shape;748;g3c5cde911a3_0_43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77</a:t>
            </a:fld>
            <a:endParaRPr/>
          </a:p>
        </p:txBody>
      </p:sp>
      <p:sp>
        <p:nvSpPr>
          <p:cNvPr id="749" name="Google Shape;749;g3c5cde911a3_0_435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0" name="Google Shape;750;g3c5cde911a3_0_43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two functions used for output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display()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operator&lt;&lt;()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operator&lt;&lt;() as a "friend" function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 given "permission" to access private data elements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Declaration in .h file (but not inside class)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friend ostream &amp; operator&lt;&lt;(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endParaRPr/>
          </a:p>
          <a:p>
            <a:pPr marL="342900" lvl="0" indent="-1651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c5cde911a3_0_44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56" name="Google Shape;756;g3c5cde911a3_0_44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78</a:t>
            </a:fld>
            <a:endParaRPr/>
          </a:p>
        </p:txBody>
      </p:sp>
      <p:sp>
        <p:nvSpPr>
          <p:cNvPr id="757" name="Google Shape;757;g3c5cde911a3_0_44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8" name="Google Shape;758;g3c5cde911a3_0_44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in .cpp file</a:t>
            </a:r>
            <a:b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ostream &amp; operator&lt;&lt;( 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	out &lt;&lt; t.myHours&lt;&lt;":"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&lt;&lt;(t.myMinutes&lt; 10? "0": "")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&lt;&lt;t.myMinutes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 ' '&lt;&lt;t.myAMorPM&lt;&lt;".M.";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return out;</a:t>
            </a:r>
            <a:b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342900" lvl="0" indent="-3429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-  a friend function </a:t>
            </a:r>
            <a:r>
              <a:rPr lang="en-US" sz="2800" b="0" i="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member function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qualified with class name and </a:t>
            </a:r>
            <a:r>
              <a:rPr lang="en-US" sz="24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::</a:t>
            </a:r>
            <a:endParaRPr/>
          </a:p>
          <a:p>
            <a:pPr marL="742950" lvl="1" indent="-28575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receives class object on which it operates as a parameter</a:t>
            </a:r>
            <a:endParaRPr/>
          </a:p>
        </p:txBody>
      </p:sp>
      <p:sp>
        <p:nvSpPr>
          <p:cNvPr id="759" name="Google Shape;759;g3c5cde911a3_0_442"/>
          <p:cNvSpPr txBox="1"/>
          <p:nvPr/>
        </p:nvSpPr>
        <p:spPr>
          <a:xfrm>
            <a:off x="4773612" y="3078162"/>
            <a:ext cx="3228900" cy="1323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Author prefers </a:t>
            </a:r>
            <a:r>
              <a:rPr lang="en-US" sz="2000" b="0" i="0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use friend function</a:t>
            </a:r>
            <a:endParaRPr/>
          </a:p>
          <a:p>
            <a:pPr marL="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Violates principle of information hiding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c5cde911a3_0_45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65" name="Google Shape;765;g3c5cde911a3_0_45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79</a:t>
            </a:fld>
            <a:endParaRPr/>
          </a:p>
        </p:txBody>
      </p:sp>
      <p:sp>
        <p:nvSpPr>
          <p:cNvPr id="766" name="Google Shape;766;g3c5cde911a3_0_450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Operations</a:t>
            </a:r>
            <a:endParaRPr/>
          </a:p>
        </p:txBody>
      </p:sp>
      <p:sp>
        <p:nvSpPr>
          <p:cNvPr id="767" name="Google Shape;767;g3c5cde911a3_0_45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Advance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receives a number of hours and minutes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Advances itself by adding to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myHours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myMinutes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Relational Operators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compares itself with another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Determines if it is less than the other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c5cde911a3_0_45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73" name="Google Shape;773;g3c5cde911a3_0_45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80</a:t>
            </a:fld>
            <a:endParaRPr/>
          </a:p>
        </p:txBody>
      </p:sp>
      <p:sp>
        <p:nvSpPr>
          <p:cNvPr id="774" name="Google Shape;774;g3c5cde911a3_0_457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b="0" i="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Redundant Declarations</a:t>
            </a:r>
            <a:endParaRPr/>
          </a:p>
        </p:txBody>
      </p:sp>
      <p:sp>
        <p:nvSpPr>
          <p:cNvPr id="775" name="Google Shape;775;g3c5cde911a3_0_45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#include "Time.h" in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Time.cpp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 program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Causes "redeclaration" errors at compile time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is to use conditional compilation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#ifndef and #define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#ifndef and #define and </a:t>
            </a:r>
            <a:r>
              <a:rPr lang="en-US" sz="2800" b="0" i="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#endif 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directives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c5cde911a3_0_46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81" name="Google Shape;781;g3c5cde911a3_0_46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81</a:t>
            </a:fld>
            <a:endParaRPr/>
          </a:p>
        </p:txBody>
      </p:sp>
      <p:sp>
        <p:nvSpPr>
          <p:cNvPr id="782" name="Google Shape;782;g3c5cde911a3_0_464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Pointers to Class Objects</a:t>
            </a:r>
            <a:endParaRPr/>
          </a:p>
        </p:txBody>
      </p:sp>
      <p:sp>
        <p:nvSpPr>
          <p:cNvPr id="783" name="Google Shape;783;g3c5cde911a3_0_46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declare pointers to class objects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* timePtr = &amp;t;</a:t>
            </a:r>
            <a:endParaRPr/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1651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endParaRPr sz="2800" b="1" i="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with</a:t>
            </a:r>
            <a:b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timePtr-&gt;getMilTime()  </a:t>
            </a: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b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(*timePtr).getMilTime()</a:t>
            </a:r>
            <a:endParaRPr/>
          </a:p>
        </p:txBody>
      </p:sp>
      <p:pic>
        <p:nvPicPr>
          <p:cNvPr id="784" name="Google Shape;784;g3c5cde911a3_0_4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28837" y="3159125"/>
            <a:ext cx="3673475" cy="1617662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c5cde911a3_0_47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90" name="Google Shape;790;g3c5cde911a3_0_47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82</a:t>
            </a:fld>
            <a:endParaRPr/>
          </a:p>
        </p:txBody>
      </p:sp>
      <p:sp>
        <p:nvSpPr>
          <p:cNvPr id="791" name="Google Shape;791;g3c5cde911a3_0_472"/>
          <p:cNvSpPr txBox="1">
            <a:spLocks noGrp="1"/>
          </p:cNvSpPr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 sz="4400" i="0" u="none">
                <a:solidFill>
                  <a:schemeClr val="dk2"/>
                </a:solidFill>
              </a:rPr>
              <a:t>The </a:t>
            </a:r>
            <a:r>
              <a:rPr lang="en-US" sz="4400" b="1" i="0" u="none">
                <a:solidFill>
                  <a:srgbClr val="3366FF"/>
                </a:solidFill>
              </a:rPr>
              <a:t>this</a:t>
            </a:r>
            <a:r>
              <a:rPr lang="en-US" sz="4400" i="0" u="none">
                <a:solidFill>
                  <a:schemeClr val="dk2"/>
                </a:solidFill>
              </a:rPr>
              <a:t> Pointer</a:t>
            </a:r>
            <a:endParaRPr/>
          </a:p>
        </p:txBody>
      </p:sp>
      <p:sp>
        <p:nvSpPr>
          <p:cNvPr id="792" name="Google Shape;792;g3c5cde911a3_0_47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lang="en-US" sz="32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Every class has a keyword, </a:t>
            </a:r>
            <a:r>
              <a:rPr lang="en-US" sz="32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pointer whose value is the address of the object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of </a:t>
            </a:r>
            <a:r>
              <a:rPr lang="en-US" sz="2800" b="1" i="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*this</a:t>
            </a:r>
            <a:r>
              <a:rPr lang="en-US" sz="2800" b="0" i="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would be the object itself</a:t>
            </a:r>
            <a:endParaRPr/>
          </a:p>
        </p:txBody>
      </p:sp>
      <p:pic>
        <p:nvPicPr>
          <p:cNvPr id="793" name="Google Shape;793;g3c5cde911a3_0_4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325" y="3787775"/>
            <a:ext cx="3521075" cy="2395537"/>
          </a:xfrm>
          <a:prstGeom prst="rect">
            <a:avLst/>
          </a:prstGeom>
          <a:noFill/>
          <a:ln>
            <a:noFill/>
          </a:ln>
          <a:effectLst>
            <a:outerShdw blurRad="63500" dist="107763" dir="2700000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NyhoffDS2eB">
  <a:themeElements>
    <a:clrScheme name="NyhoffDS2eB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</TotalTime>
  <Words>5584</Words>
  <Application>Microsoft Office PowerPoint</Application>
  <PresentationFormat>On-screen Show (4:3)</PresentationFormat>
  <Paragraphs>696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8" baseType="lpstr">
      <vt:lpstr>Tahoma</vt:lpstr>
      <vt:lpstr>Courier New</vt:lpstr>
      <vt:lpstr>Times New Roman</vt:lpstr>
      <vt:lpstr>Arial</vt:lpstr>
      <vt:lpstr>Noto Sans Symbols</vt:lpstr>
      <vt:lpstr>NyhoffDS2eB</vt:lpstr>
      <vt:lpstr>Introduction to Abstract Data Types</vt:lpstr>
      <vt:lpstr>Chapter Contents</vt:lpstr>
      <vt:lpstr>Chapter Objectives</vt:lpstr>
      <vt:lpstr>First Look at ADTs &amp; Implementations</vt:lpstr>
      <vt:lpstr>C++ Simple Data Types Integers</vt:lpstr>
      <vt:lpstr>Two's Complement Representation</vt:lpstr>
      <vt:lpstr>Two's Complement Representation</vt:lpstr>
      <vt:lpstr>Two's Complement Representation</vt:lpstr>
      <vt:lpstr>Problems with Integer Representation</vt:lpstr>
      <vt:lpstr>C++ Simple Data Types Real Data</vt:lpstr>
      <vt:lpstr>Real Data</vt:lpstr>
      <vt:lpstr>Problems with Real Representation</vt:lpstr>
      <vt:lpstr>Problems with Real Representation</vt:lpstr>
      <vt:lpstr>C++ Simple Data Types Character Data</vt:lpstr>
      <vt:lpstr>C++ Simple Data Types Boolean Data</vt:lpstr>
      <vt:lpstr>Programmer-Defined Data Types</vt:lpstr>
      <vt:lpstr>Programmer-Defined Data Types</vt:lpstr>
      <vt:lpstr>Programmer-Defined Data Types</vt:lpstr>
      <vt:lpstr>Pointers</vt:lpstr>
      <vt:lpstr>Pointers</vt:lpstr>
      <vt:lpstr>Basic Pointer Operations</vt:lpstr>
      <vt:lpstr>Basic Pointer Operations</vt:lpstr>
      <vt:lpstr>Basic Pointer Operations</vt:lpstr>
      <vt:lpstr>Basic Pointer Operations</vt:lpstr>
      <vt:lpstr>Dynamic Memory Allocation</vt:lpstr>
      <vt:lpstr>Pointer Arguments</vt:lpstr>
      <vt:lpstr>Data Structures and Abstract Data Types</vt:lpstr>
      <vt:lpstr>Chapter Contents</vt:lpstr>
      <vt:lpstr>Chapter Objectives</vt:lpstr>
      <vt:lpstr>Data Structures, Abstract Data Types, and Implementations</vt:lpstr>
      <vt:lpstr>Data Structures, Abstract Data Types, and Implementations</vt:lpstr>
      <vt:lpstr>C++ Types</vt:lpstr>
      <vt:lpstr>Arrays</vt:lpstr>
      <vt:lpstr>Single Dimension Arrays</vt:lpstr>
      <vt:lpstr>Character Arrays</vt:lpstr>
      <vt:lpstr>Subscript Operation</vt:lpstr>
      <vt:lpstr>Using Arrays</vt:lpstr>
      <vt:lpstr>Out of Range Errors</vt:lpstr>
      <vt:lpstr>Problems with C-Style Arrays</vt:lpstr>
      <vt:lpstr>Multidimensional Arrays</vt:lpstr>
      <vt:lpstr>Multidimensional Arrays</vt:lpstr>
      <vt:lpstr>Array of Array Declarations</vt:lpstr>
      <vt:lpstr>Array of Array Declarations</vt:lpstr>
      <vt:lpstr>Memory Allocation in  2-Dimensional Arrays</vt:lpstr>
      <vt:lpstr>Multidimensional Arrays as Parameters</vt:lpstr>
      <vt:lpstr>Dynamic Arrays</vt:lpstr>
      <vt:lpstr>The new Operator</vt:lpstr>
      <vt:lpstr>Pointer Arithmetic</vt:lpstr>
      <vt:lpstr>Failures of new</vt:lpstr>
      <vt:lpstr>The delete Operation</vt:lpstr>
      <vt:lpstr>Memory Leaks</vt:lpstr>
      <vt:lpstr>Other Uses of Pointers</vt:lpstr>
      <vt:lpstr>Aggregate Data Types</vt:lpstr>
      <vt:lpstr>Structures</vt:lpstr>
      <vt:lpstr>FAQs about Structures</vt:lpstr>
      <vt:lpstr>Pointers to Structs</vt:lpstr>
      <vt:lpstr>Description of Procedural Programming</vt:lpstr>
      <vt:lpstr>Example of Procedural Programming</vt:lpstr>
      <vt:lpstr>More about OOP and ADTs Classes</vt:lpstr>
      <vt:lpstr>Chapter Contents</vt:lpstr>
      <vt:lpstr>Chapter Objectives</vt:lpstr>
      <vt:lpstr>Contrast Procedural, Object Oriented Paradigms</vt:lpstr>
      <vt:lpstr>Structs and Classes  Similarities</vt:lpstr>
      <vt:lpstr>Structs vs. Classes Differences</vt:lpstr>
      <vt:lpstr>Advantages in C++ (structs and Classes)</vt:lpstr>
      <vt:lpstr>Class Declaration</vt:lpstr>
      <vt:lpstr>Designing a Class</vt:lpstr>
      <vt:lpstr>Class Libraries</vt:lpstr>
      <vt:lpstr>Translating a Library</vt:lpstr>
      <vt:lpstr>Example of User-Defined  Time Class</vt:lpstr>
      <vt:lpstr>Constructors</vt:lpstr>
      <vt:lpstr>Constructors</vt:lpstr>
      <vt:lpstr>Overloading Functions</vt:lpstr>
      <vt:lpstr>Default Arguments</vt:lpstr>
      <vt:lpstr>Copy Operations</vt:lpstr>
      <vt:lpstr>Other Class Operations</vt:lpstr>
      <vt:lpstr>Friend Functions</vt:lpstr>
      <vt:lpstr>Friend Functions</vt:lpstr>
      <vt:lpstr>Other Operations</vt:lpstr>
      <vt:lpstr>Redundant Declarations</vt:lpstr>
      <vt:lpstr>Pointers to Class Objects</vt:lpstr>
      <vt:lpstr>The this Pointer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Steve  Armstrong</dc:creator>
  <cp:lastModifiedBy>jadejadeeee1116@gmail.com</cp:lastModifiedBy>
  <cp:revision>4</cp:revision>
  <dcterms:created xsi:type="dcterms:W3CDTF">2001-12-14T20:32:40Z</dcterms:created>
  <dcterms:modified xsi:type="dcterms:W3CDTF">2026-07-28T07:45:59Z</dcterms:modified>
</cp:coreProperties>
</file>