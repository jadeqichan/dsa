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QWfaqitq5qy+h7wAaTHBFR0mm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626" y="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" name="Google Shape;7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n"/>
          <p:cNvSpPr txBox="1">
            <a:spLocks noGrp="1"/>
          </p:cNvSpPr>
          <p:nvPr>
            <p:ph type="sldNum" idx="4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layout with centered title and subtitle placeholders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2314750" y="0"/>
            <a:ext cx="68292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>
            <a:spLocks noGrp="1"/>
          </p:cNvSpPr>
          <p:nvPr>
            <p:ph type="title"/>
          </p:nvPr>
        </p:nvSpPr>
        <p:spPr>
          <a:xfrm>
            <a:off x="2590800" y="0"/>
            <a:ext cx="6553200" cy="1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on left, text on right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>
            <a:spLocks noGrp="1"/>
          </p:cNvSpPr>
          <p:nvPr>
            <p:ph type="title"/>
          </p:nvPr>
        </p:nvSpPr>
        <p:spPr>
          <a:xfrm>
            <a:off x="2590800" y="0"/>
            <a:ext cx="6553200" cy="1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39" name="Google Shape;39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Software Development</a:t>
            </a:r>
            <a:endParaRPr/>
          </a:p>
        </p:txBody>
      </p:sp>
      <p:sp>
        <p:nvSpPr>
          <p:cNvPr id="40" name="Google Shape;40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46" name="Google Shape;46;p2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title"/>
          </p:nvPr>
        </p:nvSpPr>
        <p:spPr>
          <a:xfrm>
            <a:off x="2314750" y="0"/>
            <a:ext cx="68292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Chapter Contents</a:t>
            </a:r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 Problem Analysis and Specification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1.2 Design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1.3 Coding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1.4 Testing, Execution, and Debugging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1.5 Maintenance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54" name="Google Shape;54;p3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2590800" y="0"/>
            <a:ext cx="6553200" cy="1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Chapter Objectives</a:t>
            </a:r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body" idx="4294967295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Introduce software development approaches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Contrast software development in programming course with real world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Study top-down, objected oriented approaches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Introduce design aspects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or build data types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 algorithms for operations on data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Investigate error types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Emphasize importance of testing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time and effort devoted to maintenance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63" name="Google Shape;63;p4"/>
          <p:cNvSpPr txBox="1">
            <a:spLocks noGrp="1"/>
          </p:cNvSpPr>
          <p:nvPr>
            <p:ph type="title"/>
          </p:nvPr>
        </p:nvSpPr>
        <p:spPr>
          <a:xfrm>
            <a:off x="2590800" y="0"/>
            <a:ext cx="6553200" cy="1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 Phases of Software Life Cycle</a:t>
            </a:r>
            <a:endParaRPr/>
          </a:p>
        </p:txBody>
      </p:sp>
      <p:pic>
        <p:nvPicPr>
          <p:cNvPr id="64" name="Google Shape;6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6650" y="1433512"/>
            <a:ext cx="7212012" cy="4181475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49803"/>
              </a:schemeClr>
            </a:outerShdw>
          </a:effectLst>
        </p:spPr>
      </p:pic>
      <p:sp>
        <p:nvSpPr>
          <p:cNvPr id="65" name="Google Shape;65;p4"/>
          <p:cNvSpPr txBox="1"/>
          <p:nvPr/>
        </p:nvSpPr>
        <p:spPr>
          <a:xfrm>
            <a:off x="2308225" y="5840412"/>
            <a:ext cx="45418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Waterfall Model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title"/>
          </p:nvPr>
        </p:nvSpPr>
        <p:spPr>
          <a:xfrm>
            <a:off x="2590800" y="0"/>
            <a:ext cx="6553200" cy="1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 Phases of Software Life Cycle</a:t>
            </a:r>
            <a:endParaRPr/>
          </a:p>
        </p:txBody>
      </p:sp>
      <p:pic>
        <p:nvPicPr>
          <p:cNvPr id="73" name="Google Shape;7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6325" y="1528762"/>
            <a:ext cx="7164387" cy="4189412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49803"/>
              </a:schemeClr>
            </a:outerShdw>
          </a:effectLst>
        </p:spPr>
      </p:pic>
      <p:sp>
        <p:nvSpPr>
          <p:cNvPr id="74" name="Google Shape;74;p5"/>
          <p:cNvSpPr txBox="1"/>
          <p:nvPr/>
        </p:nvSpPr>
        <p:spPr>
          <a:xfrm>
            <a:off x="2498725" y="5859462"/>
            <a:ext cx="45418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Realistic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Waterfall Model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80" name="Google Shape;80;p6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81" name="Google Shape;81;p6"/>
          <p:cNvSpPr txBox="1">
            <a:spLocks noGrp="1"/>
          </p:cNvSpPr>
          <p:nvPr>
            <p:ph type="title" idx="4294967295"/>
          </p:nvPr>
        </p:nvSpPr>
        <p:spPr>
          <a:xfrm>
            <a:off x="2590800" y="0"/>
            <a:ext cx="6553200" cy="1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Problem Analysis and Specification</a:t>
            </a:r>
            <a:endParaRPr/>
          </a:p>
        </p:txBody>
      </p:sp>
      <p:sp>
        <p:nvSpPr>
          <p:cNvPr id="82" name="Google Shape;82;p6"/>
          <p:cNvSpPr txBox="1">
            <a:spLocks noGrp="1"/>
          </p:cNvSpPr>
          <p:nvPr>
            <p:ph type="body" idx="4294967295"/>
          </p:nvPr>
        </p:nvSpPr>
        <p:spPr>
          <a:xfrm>
            <a:off x="249237" y="1676400"/>
            <a:ext cx="3963987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 courses</a:t>
            </a: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 systems 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 hundred lines of code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simple, straightforward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self-contained</a:t>
            </a:r>
            <a:endParaRPr/>
          </a:p>
        </p:txBody>
      </p:sp>
      <p:sp>
        <p:nvSpPr>
          <p:cNvPr id="83" name="Google Shape;83;p6"/>
          <p:cNvSpPr txBox="1">
            <a:spLocks noGrp="1"/>
          </p:cNvSpPr>
          <p:nvPr>
            <p:ph type="body" idx="4294967295"/>
          </p:nvPr>
        </p:nvSpPr>
        <p:spPr>
          <a:xfrm>
            <a:off x="4876800" y="1676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“Real” world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systems 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thousands of lines of code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components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initially poorly defined</a:t>
            </a:r>
            <a:endParaRPr/>
          </a:p>
        </p:txBody>
      </p:sp>
      <p:sp>
        <p:nvSpPr>
          <p:cNvPr id="84" name="Google Shape;84;p6"/>
          <p:cNvSpPr txBox="1"/>
          <p:nvPr/>
        </p:nvSpPr>
        <p:spPr>
          <a:xfrm>
            <a:off x="8610600" y="6400800"/>
            <a:ext cx="4572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title"/>
          </p:nvPr>
        </p:nvSpPr>
        <p:spPr>
          <a:xfrm>
            <a:off x="2314750" y="0"/>
            <a:ext cx="68292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Problem Analysis and Specification</a:t>
            </a:r>
            <a:endParaRPr/>
          </a:p>
        </p:txBody>
      </p:sp>
      <p:sp>
        <p:nvSpPr>
          <p:cNvPr id="92" name="Google Shape;92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specification or "contract" will include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Precondition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Postcondition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 world contracts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be precise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 be required to prove end product meets these precise specifications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98" name="Google Shape;98;p8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9" name="Google Shape;99;p8"/>
          <p:cNvSpPr txBox="1">
            <a:spLocks noGrp="1"/>
          </p:cNvSpPr>
          <p:nvPr>
            <p:ph type="title"/>
          </p:nvPr>
        </p:nvSpPr>
        <p:spPr>
          <a:xfrm>
            <a:off x="2314750" y="0"/>
            <a:ext cx="68292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 Down Design</a:t>
            </a:r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problem partitioned into simpler subproblems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of these subproblems likewise subdivided</a:t>
            </a:r>
            <a:endParaRPr/>
          </a:p>
        </p:txBody>
      </p:sp>
      <p:pic>
        <p:nvPicPr>
          <p:cNvPr id="101" name="Google Shape;101;p8"/>
          <p:cNvPicPr preferRelativeResize="0"/>
          <p:nvPr/>
        </p:nvPicPr>
        <p:blipFill rotWithShape="1">
          <a:blip r:embed="rId3">
            <a:alphaModFix/>
          </a:blip>
          <a:srcRect b="-7077"/>
          <a:stretch/>
        </p:blipFill>
        <p:spPr>
          <a:xfrm>
            <a:off x="1609725" y="3662362"/>
            <a:ext cx="5924550" cy="2233612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49803"/>
              </a:scheme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107" name="Google Shape;107;p9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  <p:sp>
        <p:nvSpPr>
          <p:cNvPr id="108" name="Google Shape;108;p9"/>
          <p:cNvSpPr txBox="1">
            <a:spLocks noGrp="1"/>
          </p:cNvSpPr>
          <p:nvPr>
            <p:ph type="title"/>
          </p:nvPr>
        </p:nvSpPr>
        <p:spPr>
          <a:xfrm>
            <a:off x="2314750" y="0"/>
            <a:ext cx="68292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OOD:  Object-Oriented</a:t>
            </a:r>
            <a:r>
              <a:rPr lang="en-US" sz="4400" b="0" i="0" u="none">
                <a:solidFill>
                  <a:schemeClr val="accent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/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the 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objects</a:t>
            </a: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the problem's specification and their types.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the 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</a:t>
            </a: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tasks to manipulate the objects </a:t>
            </a:r>
            <a:endParaRPr/>
          </a:p>
        </p:txBody>
      </p:sp>
      <p:sp>
        <p:nvSpPr>
          <p:cNvPr id="110" name="Google Shape;110;p9"/>
          <p:cNvSpPr txBox="1"/>
          <p:nvPr/>
        </p:nvSpPr>
        <p:spPr>
          <a:xfrm>
            <a:off x="8610600" y="6400800"/>
            <a:ext cx="4572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/>
          </a:p>
        </p:txBody>
      </p:sp>
      <p:pic>
        <p:nvPicPr>
          <p:cNvPr id="111" name="Google Shape;11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75325" y="1874837"/>
            <a:ext cx="2711450" cy="3421062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49803"/>
              </a:schemeClr>
            </a:outerShdw>
          </a:effectLst>
        </p:spPr>
      </p:pic>
      <p:cxnSp>
        <p:nvCxnSpPr>
          <p:cNvPr id="112" name="Google Shape;112;p9"/>
          <p:cNvCxnSpPr/>
          <p:nvPr/>
        </p:nvCxnSpPr>
        <p:spPr>
          <a:xfrm>
            <a:off x="4365625" y="2522537"/>
            <a:ext cx="1739900" cy="279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13" name="Google Shape;113;p9"/>
          <p:cNvCxnSpPr/>
          <p:nvPr/>
        </p:nvCxnSpPr>
        <p:spPr>
          <a:xfrm rot="10800000" flipH="1">
            <a:off x="4792662" y="4187825"/>
            <a:ext cx="1401762" cy="35401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5DA6523-F5F4-51F0-06A4-CE1D3AA6745A}"/>
              </a:ext>
            </a:extLst>
          </p:cNvPr>
          <p:cNvSpPr txBox="1"/>
          <p:nvPr/>
        </p:nvSpPr>
        <p:spPr>
          <a:xfrm>
            <a:off x="1039906" y="4187825"/>
            <a:ext cx="33767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Student 1</a:t>
            </a:r>
          </a:p>
          <a:p>
            <a:br>
              <a:rPr lang="en-MY" dirty="0"/>
            </a:br>
            <a:r>
              <a:rPr lang="en-MY" dirty="0"/>
              <a:t>Name</a:t>
            </a:r>
          </a:p>
          <a:p>
            <a:r>
              <a:rPr lang="en-MY" dirty="0"/>
              <a:t>ID </a:t>
            </a:r>
          </a:p>
          <a:p>
            <a:r>
              <a:rPr lang="en-MY" dirty="0"/>
              <a:t>Gender</a:t>
            </a:r>
          </a:p>
          <a:p>
            <a:r>
              <a:rPr lang="en-MY" dirty="0"/>
              <a:t>Course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03C2B-DF7F-FF72-97FB-C99944BB6275}"/>
              </a:ext>
            </a:extLst>
          </p:cNvPr>
          <p:cNvSpPr txBox="1"/>
          <p:nvPr/>
        </p:nvSpPr>
        <p:spPr>
          <a:xfrm>
            <a:off x="-2002118" y="1320800"/>
            <a:ext cx="3561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When to use while loop, do while loop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119" name="Google Shape;119;p10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20" name="Google Shape;120;p10"/>
          <p:cNvSpPr txBox="1">
            <a:spLocks noGrp="1"/>
          </p:cNvSpPr>
          <p:nvPr>
            <p:ph type="title"/>
          </p:nvPr>
        </p:nvSpPr>
        <p:spPr>
          <a:xfrm>
            <a:off x="2590800" y="0"/>
            <a:ext cx="6553200" cy="1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OOD:  Object-Oriented</a:t>
            </a:r>
            <a:r>
              <a:rPr lang="en-US" sz="4400" b="0" i="0" u="none">
                <a:solidFill>
                  <a:schemeClr val="accent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/>
          </a:p>
        </p:txBody>
      </p:sp>
      <p:pic>
        <p:nvPicPr>
          <p:cNvPr id="121" name="Google Shape;121;p10"/>
          <p:cNvPicPr preferRelativeResize="0"/>
          <p:nvPr/>
        </p:nvPicPr>
        <p:blipFill rotWithShape="1">
          <a:blip r:embed="rId3">
            <a:alphaModFix/>
          </a:blip>
          <a:srcRect l="3378" t="3915"/>
          <a:stretch/>
        </p:blipFill>
        <p:spPr>
          <a:xfrm>
            <a:off x="612775" y="1533525"/>
            <a:ext cx="7956550" cy="3433762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49803"/>
              </a:schemeClr>
            </a:outerShdw>
          </a:effectLst>
        </p:spPr>
      </p:pic>
      <p:sp>
        <p:nvSpPr>
          <p:cNvPr id="122" name="Google Shape;122;p10"/>
          <p:cNvSpPr txBox="1"/>
          <p:nvPr/>
        </p:nvSpPr>
        <p:spPr>
          <a:xfrm>
            <a:off x="1814512" y="5413375"/>
            <a:ext cx="55737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UML class diagram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128" name="Google Shape;128;p11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29" name="Google Shape;129;p11"/>
          <p:cNvSpPr txBox="1">
            <a:spLocks noGrp="1"/>
          </p:cNvSpPr>
          <p:nvPr>
            <p:ph type="title"/>
          </p:nvPr>
        </p:nvSpPr>
        <p:spPr>
          <a:xfrm>
            <a:off x="2314750" y="0"/>
            <a:ext cx="68292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Types of the Objects</a:t>
            </a:r>
            <a:endParaRPr/>
          </a:p>
        </p:txBody>
      </p:sp>
      <p:sp>
        <p:nvSpPr>
          <p:cNvPr id="130" name="Google Shape;130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Structured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objects</a:t>
            </a:r>
            <a:endParaRPr/>
          </a:p>
        </p:txBody>
      </p:sp>
      <p:grpSp>
        <p:nvGrpSpPr>
          <p:cNvPr id="131" name="Google Shape;131;p11"/>
          <p:cNvGrpSpPr/>
          <p:nvPr/>
        </p:nvGrpSpPr>
        <p:grpSpPr>
          <a:xfrm>
            <a:off x="3514725" y="2776537"/>
            <a:ext cx="3611562" cy="2497137"/>
            <a:chOff x="2167" y="1666"/>
            <a:chExt cx="2275" cy="1573"/>
          </a:xfrm>
        </p:grpSpPr>
        <p:sp>
          <p:nvSpPr>
            <p:cNvPr id="132" name="Google Shape;132;p11"/>
            <p:cNvSpPr/>
            <p:nvPr/>
          </p:nvSpPr>
          <p:spPr>
            <a:xfrm>
              <a:off x="2167" y="1729"/>
              <a:ext cx="222" cy="842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1"/>
            <p:cNvSpPr txBox="1"/>
            <p:nvPr/>
          </p:nvSpPr>
          <p:spPr>
            <a:xfrm>
              <a:off x="2832" y="1666"/>
              <a:ext cx="1610" cy="5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Think of them as Containers</a:t>
              </a:r>
              <a:endParaRPr/>
            </a:p>
          </p:txBody>
        </p:sp>
        <p:sp>
          <p:nvSpPr>
            <p:cNvPr id="134" name="Google Shape;134;p11"/>
            <p:cNvSpPr/>
            <p:nvPr/>
          </p:nvSpPr>
          <p:spPr>
            <a:xfrm>
              <a:off x="3106" y="2515"/>
              <a:ext cx="768" cy="724"/>
            </a:xfrm>
            <a:prstGeom prst="can">
              <a:avLst>
                <a:gd name="adj" fmla="val 25000"/>
              </a:avLst>
            </a:prstGeom>
            <a:gradFill>
              <a:gsLst>
                <a:gs pos="0">
                  <a:srgbClr val="839D9F"/>
                </a:gs>
                <a:gs pos="50000">
                  <a:schemeClr val="accent1"/>
                </a:gs>
                <a:gs pos="100000">
                  <a:srgbClr val="839D9F"/>
                </a:gs>
              </a:gsLst>
              <a:lin ang="1080000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140" name="Google Shape;140;p12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41" name="Google Shape;141;p12"/>
          <p:cNvSpPr txBox="1">
            <a:spLocks noGrp="1"/>
          </p:cNvSpPr>
          <p:nvPr>
            <p:ph type="title"/>
          </p:nvPr>
        </p:nvSpPr>
        <p:spPr>
          <a:xfrm>
            <a:off x="2314750" y="0"/>
            <a:ext cx="68292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Algorithms</a:t>
            </a:r>
            <a:endParaRPr/>
          </a:p>
        </p:txBody>
      </p:sp>
      <p:sp>
        <p:nvSpPr>
          <p:cNvPr id="142" name="Google Shape;142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Pseudo code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be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Definite, unambiguous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Finite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correct and efficient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well structured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Cannot separate data structures from algorithms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148" name="Google Shape;148;p13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49" name="Google Shape;149;p13"/>
          <p:cNvSpPr txBox="1">
            <a:spLocks noGrp="1"/>
          </p:cNvSpPr>
          <p:nvPr>
            <p:ph type="title"/>
          </p:nvPr>
        </p:nvSpPr>
        <p:spPr>
          <a:xfrm>
            <a:off x="2590800" y="0"/>
            <a:ext cx="6553200" cy="1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Algorithms</a:t>
            </a:r>
            <a:endParaRPr/>
          </a:p>
        </p:txBody>
      </p:sp>
      <p:pic>
        <p:nvPicPr>
          <p:cNvPr id="150" name="Google Shape;15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7675" y="455612"/>
            <a:ext cx="1835150" cy="5738812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49803"/>
              </a:schemeClr>
            </a:outerShdw>
          </a:effectLst>
        </p:spPr>
      </p:pic>
      <p:sp>
        <p:nvSpPr>
          <p:cNvPr id="151" name="Google Shape;151;p13"/>
          <p:cNvSpPr txBox="1"/>
          <p:nvPr/>
        </p:nvSpPr>
        <p:spPr>
          <a:xfrm>
            <a:off x="2476500" y="4527550"/>
            <a:ext cx="2346325" cy="155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Unstructured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goto's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if-else's</a:t>
            </a:r>
            <a:endParaRPr/>
          </a:p>
        </p:txBody>
      </p:sp>
      <p:grpSp>
        <p:nvGrpSpPr>
          <p:cNvPr id="152" name="Google Shape;152;p13"/>
          <p:cNvGrpSpPr/>
          <p:nvPr/>
        </p:nvGrpSpPr>
        <p:grpSpPr>
          <a:xfrm>
            <a:off x="3906837" y="704850"/>
            <a:ext cx="4541837" cy="5289550"/>
            <a:chOff x="2461" y="444"/>
            <a:chExt cx="2861" cy="3332"/>
          </a:xfrm>
        </p:grpSpPr>
        <p:pic>
          <p:nvPicPr>
            <p:cNvPr id="153" name="Google Shape;153;p13"/>
            <p:cNvPicPr preferRelativeResize="0"/>
            <p:nvPr/>
          </p:nvPicPr>
          <p:blipFill rotWithShape="1">
            <a:blip r:embed="rId4">
              <a:alphaModFix/>
            </a:blip>
            <a:srcRect r="5110" b="-1123"/>
            <a:stretch/>
          </p:blipFill>
          <p:spPr>
            <a:xfrm>
              <a:off x="3948" y="444"/>
              <a:ext cx="1374" cy="3332"/>
            </a:xfrm>
            <a:prstGeom prst="rect">
              <a:avLst/>
            </a:prstGeom>
            <a:noFill/>
            <a:ln>
              <a:noFill/>
            </a:ln>
            <a:effectLst>
              <a:outerShdw blurRad="63500" dist="107763" dir="2700000">
                <a:schemeClr val="lt2">
                  <a:alpha val="49803"/>
                </a:schemeClr>
              </a:outerShdw>
            </a:effectLst>
          </p:spPr>
        </p:pic>
        <p:sp>
          <p:nvSpPr>
            <p:cNvPr id="154" name="Google Shape;154;p13"/>
            <p:cNvSpPr txBox="1"/>
            <p:nvPr/>
          </p:nvSpPr>
          <p:spPr>
            <a:xfrm>
              <a:off x="2461" y="1672"/>
              <a:ext cx="1357" cy="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0" i="0" u="sng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</a:t>
              </a:r>
              <a:endParaRPr/>
            </a:p>
            <a:p>
              <a:pPr marL="0" marR="0" lvl="0" indent="-15240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Char char="•"/>
              </a:pPr>
              <a:r>
                <a:rPr lang="en-US" sz="24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while loop</a:t>
              </a:r>
              <a:endParaRPr/>
            </a:p>
            <a:p>
              <a:pPr marL="0" marR="0" lvl="0" indent="-15240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Char char="•"/>
              </a:pPr>
              <a:r>
                <a:rPr lang="en-US" sz="24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switch stmt</a:t>
              </a:r>
              <a:endParaRPr/>
            </a:p>
          </p:txBody>
        </p:sp>
        <p:cxnSp>
          <p:nvCxnSpPr>
            <p:cNvPr id="155" name="Google Shape;155;p13"/>
            <p:cNvCxnSpPr/>
            <p:nvPr/>
          </p:nvCxnSpPr>
          <p:spPr>
            <a:xfrm rot="10800000" flipH="1">
              <a:off x="3614" y="1533"/>
              <a:ext cx="687" cy="5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156" name="Google Shape;156;p13"/>
            <p:cNvCxnSpPr/>
            <p:nvPr/>
          </p:nvCxnSpPr>
          <p:spPr>
            <a:xfrm rot="10800000" flipH="1">
              <a:off x="3772" y="2341"/>
              <a:ext cx="344" cy="13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3302D77-14D7-8E2A-1DC8-E18DA0ACB7AE}"/>
              </a:ext>
            </a:extLst>
          </p:cNvPr>
          <p:cNvSpPr txBox="1"/>
          <p:nvPr/>
        </p:nvSpPr>
        <p:spPr>
          <a:xfrm>
            <a:off x="9920941" y="384884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B3E57C-04E0-4E7B-E62E-79459596EF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177054" y="2005853"/>
            <a:ext cx="3795059" cy="28462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162" name="Google Shape;162;p14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63" name="Google Shape;163;p14"/>
          <p:cNvSpPr txBox="1">
            <a:spLocks noGrp="1"/>
          </p:cNvSpPr>
          <p:nvPr>
            <p:ph type="title"/>
          </p:nvPr>
        </p:nvSpPr>
        <p:spPr>
          <a:xfrm>
            <a:off x="2314750" y="0"/>
            <a:ext cx="68292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Coding</a:t>
            </a:r>
            <a:endParaRPr/>
          </a:p>
        </p:txBody>
      </p:sp>
      <p:sp>
        <p:nvSpPr>
          <p:cNvPr id="164" name="Google Shape;164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language of implementation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Encode the design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Figure 1.9 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Financial-aid update function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Figure 1.10 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Test-driver for Financial-aid update function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Figure 1.11 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Header file for </a:t>
            </a:r>
            <a:r>
              <a:rPr lang="en-US" sz="3200" b="1" i="0" u="none" strike="noStrike" cap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FinancialAidAward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Figure 1.12 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Implementation file for </a:t>
            </a:r>
            <a:r>
              <a:rPr lang="en-US" sz="3200" b="1" i="0" u="none" strike="noStrike" cap="none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rPr>
              <a:t>FinancialAidAward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8610600" y="6400800"/>
            <a:ext cx="4572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72" name="Google Shape;172;p15"/>
          <p:cNvSpPr txBox="1">
            <a:spLocks noGrp="1"/>
          </p:cNvSpPr>
          <p:nvPr>
            <p:ph type="title"/>
          </p:nvPr>
        </p:nvSpPr>
        <p:spPr>
          <a:xfrm>
            <a:off x="2314750" y="0"/>
            <a:ext cx="68292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Coding</a:t>
            </a:r>
            <a:endParaRPr/>
          </a:p>
        </p:txBody>
      </p:sp>
      <p:sp>
        <p:nvSpPr>
          <p:cNvPr id="173" name="Google Shape;173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Verify integration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combining program units into a complete software system.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Insure quality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programs must be  correct,  readable, and understandable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well-structured, documented, formatted for readability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title"/>
          </p:nvPr>
        </p:nvSpPr>
        <p:spPr>
          <a:xfrm>
            <a:off x="2314750" y="0"/>
            <a:ext cx="68292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Testing, Execution, and Debugging</a:t>
            </a:r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Validation: </a:t>
            </a:r>
            <a:b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"Are we building the right product?"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that documents, program modules, etc. match the customer's requirements.   </a:t>
            </a:r>
            <a:b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Verification: </a:t>
            </a:r>
            <a:b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"Are we building the product right?"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that products are correct,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complete,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consistent with each other and with those of the preceding phases.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8610600" y="6400800"/>
            <a:ext cx="4572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title"/>
          </p:nvPr>
        </p:nvSpPr>
        <p:spPr>
          <a:xfrm>
            <a:off x="2314750" y="0"/>
            <a:ext cx="68292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Different Kinds Of Tests Required</a:t>
            </a:r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Unit tests: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individual program unit works?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 components tested in isolation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Integration tests :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Units combined correctly?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 interface and information flow tested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tests: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Overall system works correctly?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8610600" y="6400800"/>
            <a:ext cx="4572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198" name="Google Shape;198;p18"/>
          <p:cNvSpPr txBox="1">
            <a:spLocks noGrp="1"/>
          </p:cNvSpPr>
          <p:nvPr>
            <p:ph type="title"/>
          </p:nvPr>
        </p:nvSpPr>
        <p:spPr>
          <a:xfrm>
            <a:off x="2590800" y="0"/>
            <a:ext cx="6553200" cy="1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"V" Life Cycle Model</a:t>
            </a:r>
            <a:endParaRPr/>
          </a:p>
        </p:txBody>
      </p:sp>
      <p:pic>
        <p:nvPicPr>
          <p:cNvPr id="199" name="Google Shape;19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41512" y="1758950"/>
            <a:ext cx="5289550" cy="4114800"/>
          </a:xfrm>
          <a:prstGeom prst="rect">
            <a:avLst/>
          </a:prstGeom>
          <a:noFill/>
          <a:ln>
            <a:noFill/>
          </a:ln>
          <a:effectLst>
            <a:outerShdw blurRad="63500" dist="107763" dir="2700000">
              <a:schemeClr val="lt2">
                <a:alpha val="49803"/>
              </a:scheme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205" name="Google Shape;205;p19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06" name="Google Shape;206;p19"/>
          <p:cNvSpPr txBox="1">
            <a:spLocks noGrp="1"/>
          </p:cNvSpPr>
          <p:nvPr>
            <p:ph type="title"/>
          </p:nvPr>
        </p:nvSpPr>
        <p:spPr>
          <a:xfrm>
            <a:off x="2314750" y="0"/>
            <a:ext cx="68292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 of Errors</a:t>
            </a:r>
            <a:endParaRPr/>
          </a:p>
        </p:txBody>
      </p:sp>
      <p:sp>
        <p:nvSpPr>
          <p:cNvPr id="207" name="Google Shape;20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Syntax errors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errors in the grammar of the programming language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Run-time errors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happen during program execution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 errors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errors in algorithm design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213" name="Google Shape;213;p20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14" name="Google Shape;214;p20"/>
          <p:cNvSpPr txBox="1">
            <a:spLocks noGrp="1"/>
          </p:cNvSpPr>
          <p:nvPr>
            <p:ph type="title"/>
          </p:nvPr>
        </p:nvSpPr>
        <p:spPr>
          <a:xfrm>
            <a:off x="2314750" y="0"/>
            <a:ext cx="68292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Black Box  or Functional Test</a:t>
            </a:r>
            <a:endParaRPr/>
          </a:p>
        </p:txBody>
      </p:sp>
      <p:sp>
        <p:nvSpPr>
          <p:cNvPr id="215" name="Google Shape;21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Outputs produced for various inputs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Checked for correctness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not consider structure of program component itself. 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 unit is viewed as a black box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Accepts inputs and produces outputs,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Inner workings of the box are not visible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8610600" y="6400800"/>
            <a:ext cx="4572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222" name="Google Shape;222;p21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23" name="Google Shape;223;p21"/>
          <p:cNvSpPr txBox="1">
            <a:spLocks noGrp="1"/>
          </p:cNvSpPr>
          <p:nvPr>
            <p:ph type="title"/>
          </p:nvPr>
        </p:nvSpPr>
        <p:spPr>
          <a:xfrm>
            <a:off x="2314750" y="0"/>
            <a:ext cx="68292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White Box  or Structural Test</a:t>
            </a:r>
            <a:endParaRPr/>
          </a:p>
        </p:txBody>
      </p:sp>
      <p:sp>
        <p:nvSpPr>
          <p:cNvPr id="224" name="Google Shape;224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is tested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examine code’s internal structure. 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data is carefully selected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specific parts of the program unit are exercised.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8610600" y="6400800"/>
            <a:ext cx="4572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>
            <a:spLocks noGrp="1"/>
          </p:cNvSpPr>
          <p:nvPr>
            <p:ph type="ftr" idx="11"/>
          </p:nvPr>
        </p:nvSpPr>
        <p:spPr>
          <a:xfrm>
            <a:off x="1409700" y="6438900"/>
            <a:ext cx="5581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Nyhoff, ADTs, Data Structures and Problem Solving with C++, Second Edition, © 2005 Pearson Education, Inc. All rights reserved. 0-13-140909-3 </a:t>
            </a:r>
            <a:endParaRPr/>
          </a:p>
        </p:txBody>
      </p:sp>
      <p:sp>
        <p:nvSpPr>
          <p:cNvPr id="231" name="Google Shape;231;p22"/>
          <p:cNvSpPr txBox="1">
            <a:spLocks noGrp="1"/>
          </p:cNvSpPr>
          <p:nvPr>
            <p:ph type="sldNum" idx="12"/>
          </p:nvPr>
        </p:nvSpPr>
        <p:spPr>
          <a:xfrm>
            <a:off x="66675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32" name="Google Shape;232;p22"/>
          <p:cNvSpPr txBox="1">
            <a:spLocks noGrp="1"/>
          </p:cNvSpPr>
          <p:nvPr>
            <p:ph type="title"/>
          </p:nvPr>
        </p:nvSpPr>
        <p:spPr>
          <a:xfrm>
            <a:off x="2314750" y="0"/>
            <a:ext cx="68292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Maintenance</a:t>
            </a:r>
            <a:endParaRPr/>
          </a:p>
        </p:txBody>
      </p:sp>
      <p:sp>
        <p:nvSpPr>
          <p:cNvPr id="233" name="Google Shape;233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7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% of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center budgets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Programmer's time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development cost</a:t>
            </a:r>
            <a:endParaRPr/>
          </a:p>
          <a:p>
            <a:pPr marL="1600200" marR="0" lvl="3" indent="-101600" algn="l" rtl="0">
              <a:lnSpc>
                <a:spcPct val="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Because …  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Includes modifications and enhancements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Poor structure, poor documentation, poor style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Bug finding and fixing is tougher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Impedes implementation of enhancements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8610600" y="6400800"/>
            <a:ext cx="4572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yhoffDS2eB">
  <a:themeElements>
    <a:clrScheme name="NyhoffDS2eB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1176</Words>
  <Application>Microsoft Office PowerPoint</Application>
  <PresentationFormat>On-screen Show (4:3)</PresentationFormat>
  <Paragraphs>191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Courier New</vt:lpstr>
      <vt:lpstr>Times</vt:lpstr>
      <vt:lpstr>Times New Roman</vt:lpstr>
      <vt:lpstr>NyhoffDS2eB</vt:lpstr>
      <vt:lpstr>Software Development</vt:lpstr>
      <vt:lpstr>Chapter Contents</vt:lpstr>
      <vt:lpstr>Chapter Objectives</vt:lpstr>
      <vt:lpstr>5 Phases of Software Life Cycle</vt:lpstr>
      <vt:lpstr>5 Phases of Software Life Cycle</vt:lpstr>
      <vt:lpstr>Problem Analysis and Specification</vt:lpstr>
      <vt:lpstr>Problem Analysis and Specification</vt:lpstr>
      <vt:lpstr>Top Down Design</vt:lpstr>
      <vt:lpstr>OOD:  Object-Oriented Design</vt:lpstr>
      <vt:lpstr>OOD:  Object-Oriented Design</vt:lpstr>
      <vt:lpstr>Data Types of the Objects</vt:lpstr>
      <vt:lpstr>Algorithms</vt:lpstr>
      <vt:lpstr>Algorithms</vt:lpstr>
      <vt:lpstr>Coding</vt:lpstr>
      <vt:lpstr>Coding</vt:lpstr>
      <vt:lpstr>Testing, Execution, and Debugging</vt:lpstr>
      <vt:lpstr>Different Kinds Of Tests Required</vt:lpstr>
      <vt:lpstr>The "V" Life Cycle Model</vt:lpstr>
      <vt:lpstr>Types of Errors</vt:lpstr>
      <vt:lpstr>Black Box  or Functional Test</vt:lpstr>
      <vt:lpstr>White Box  or Structural Test</vt:lpstr>
      <vt:lpstr>Maintenance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Steve  Armstrong</dc:creator>
  <cp:lastModifiedBy>jadejadeeee1116@gmail.com</cp:lastModifiedBy>
  <cp:revision>1</cp:revision>
  <dcterms:created xsi:type="dcterms:W3CDTF">2001-12-14T19:37:57Z</dcterms:created>
  <dcterms:modified xsi:type="dcterms:W3CDTF">2026-07-10T20:38:00Z</dcterms:modified>
</cp:coreProperties>
</file>